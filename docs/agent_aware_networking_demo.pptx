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4cda2d400114615" /><Relationship Type="http://schemas.openxmlformats.org/officeDocument/2006/relationships/extended-properties" Target="/docProps/app.xml" Id="R7de20ea62f7e4deb" /><Relationship Type="http://schemas.openxmlformats.org/officeDocument/2006/relationships/officeDocument" Target="/ppt/presentation.xml" Id="R1eb8cb352ced4f1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65ae84e945c45ea"/>
  </p:sldMasterIdLst>
  <p:notesMasterIdLst>
    <p:notesMasterId xmlns:r="http://schemas.openxmlformats.org/officeDocument/2006/relationships" r:id="R5a38ef10ce0048f7"/>
  </p:notesMasterIdLst>
  <p:sldIdLst>
    <p:sldId xmlns:r="http://schemas.openxmlformats.org/officeDocument/2006/relationships" id="256" r:id="R6b57a6e93eac48bb"/>
    <p:sldId xmlns:r="http://schemas.openxmlformats.org/officeDocument/2006/relationships" id="257" r:id="R97a1b8f551c74d8f"/>
    <p:sldId xmlns:r="http://schemas.openxmlformats.org/officeDocument/2006/relationships" id="258" r:id="R8759c53b7e314b57"/>
    <p:sldId xmlns:r="http://schemas.openxmlformats.org/officeDocument/2006/relationships" id="259" r:id="R4a4ddab2c6fd4863"/>
    <p:sldId xmlns:r="http://schemas.openxmlformats.org/officeDocument/2006/relationships" id="260" r:id="Rc4a093e0f14146c1"/>
    <p:sldId xmlns:r="http://schemas.openxmlformats.org/officeDocument/2006/relationships" id="261" r:id="R0d5bb0a5d70046fc"/>
    <p:sldId xmlns:r="http://schemas.openxmlformats.org/officeDocument/2006/relationships" id="262" r:id="R73bb4a7e04d34a1d"/>
    <p:sldId xmlns:r="http://schemas.openxmlformats.org/officeDocument/2006/relationships" id="263" r:id="R6667083f11f34616"/>
    <p:sldId xmlns:r="http://schemas.openxmlformats.org/officeDocument/2006/relationships" id="264" r:id="Rc65520e36fd74f0b"/>
    <p:sldId xmlns:r="http://schemas.openxmlformats.org/officeDocument/2006/relationships" id="265" r:id="Rc979fd5ef27646c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cba918b45be470e" /><Relationship Type="http://schemas.openxmlformats.org/officeDocument/2006/relationships/slideMaster" Target="/ppt/slideMasters/slideMaster1.xml" Id="Rf65ae84e945c45ea" /><Relationship Type="http://schemas.openxmlformats.org/officeDocument/2006/relationships/notesMaster" Target="/ppt/notesMasters/notesMaster1.xml" Id="R5a38ef10ce0048f7" /><Relationship Type="http://schemas.openxmlformats.org/officeDocument/2006/relationships/presProps" Target="/ppt/presProps.xml" Id="R16469319428a4e13" /><Relationship Type="http://schemas.openxmlformats.org/officeDocument/2006/relationships/tableStyles" Target="/ppt/tableStyles.xml" Id="R9de0d571ab0c470f" /><Relationship Type="http://schemas.openxmlformats.org/officeDocument/2006/relationships/slide" Target="/ppt/slides/slide1.xml" Id="R6b57a6e93eac48bb" /><Relationship Type="http://schemas.openxmlformats.org/officeDocument/2006/relationships/slide" Target="/ppt/slides/slide2.xml" Id="R97a1b8f551c74d8f" /><Relationship Type="http://schemas.openxmlformats.org/officeDocument/2006/relationships/slide" Target="/ppt/slides/slide3.xml" Id="R8759c53b7e314b57" /><Relationship Type="http://schemas.openxmlformats.org/officeDocument/2006/relationships/slide" Target="/ppt/slides/slide4.xml" Id="R4a4ddab2c6fd4863" /><Relationship Type="http://schemas.openxmlformats.org/officeDocument/2006/relationships/slide" Target="/ppt/slides/slide5.xml" Id="Rc4a093e0f14146c1" /><Relationship Type="http://schemas.openxmlformats.org/officeDocument/2006/relationships/slide" Target="/ppt/slides/slide6.xml" Id="R0d5bb0a5d70046fc" /><Relationship Type="http://schemas.openxmlformats.org/officeDocument/2006/relationships/slide" Target="/ppt/slides/slide7.xml" Id="R73bb4a7e04d34a1d" /><Relationship Type="http://schemas.openxmlformats.org/officeDocument/2006/relationships/slide" Target="/ppt/slides/slide8.xml" Id="R6667083f11f34616" /><Relationship Type="http://schemas.openxmlformats.org/officeDocument/2006/relationships/slide" Target="/ppt/slides/slide9.xml" Id="Rc65520e36fd74f0b" /><Relationship Type="http://schemas.openxmlformats.org/officeDocument/2006/relationships/slide" Target="/ppt/slides/slide10.xml" Id="Rc979fd5ef27646c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6c5d1fea68043e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b0379195540485b" /><Relationship Type="http://schemas.openxmlformats.org/officeDocument/2006/relationships/notesMaster" Target="/ppt/notesMasters/notesMaster1.xml" Id="Rc862e530dfd0470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6adbf621c0d47ed" /><Relationship Type="http://schemas.openxmlformats.org/officeDocument/2006/relationships/notesMaster" Target="/ppt/notesMasters/notesMaster1.xml" Id="R948eb7788fa648f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a39bd4e87a548ee" /><Relationship Type="http://schemas.openxmlformats.org/officeDocument/2006/relationships/notesMaster" Target="/ppt/notesMasters/notesMaster1.xml" Id="R0d574949276f417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51d29bf0dd24e84" /><Relationship Type="http://schemas.openxmlformats.org/officeDocument/2006/relationships/notesMaster" Target="/ppt/notesMasters/notesMaster1.xml" Id="R5086f3f51777468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bb2cac63d1d410e" /><Relationship Type="http://schemas.openxmlformats.org/officeDocument/2006/relationships/notesMaster" Target="/ppt/notesMasters/notesMaster1.xml" Id="R20031f6d3f20456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993e3e221694656" /><Relationship Type="http://schemas.openxmlformats.org/officeDocument/2006/relationships/notesMaster" Target="/ppt/notesMasters/notesMaster1.xml" Id="Rea426f5eccfe4f8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3a1205fa4f7429d" /><Relationship Type="http://schemas.openxmlformats.org/officeDocument/2006/relationships/notesMaster" Target="/ppt/notesMasters/notesMaster1.xml" Id="R45fda083694441e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f2a073cc56a4932" /><Relationship Type="http://schemas.openxmlformats.org/officeDocument/2006/relationships/notesMaster" Target="/ppt/notesMasters/notesMaster1.xml" Id="Rcca31cd983d9482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3d8dbb2abc34dcf" /><Relationship Type="http://schemas.openxmlformats.org/officeDocument/2006/relationships/notesMaster" Target="/ppt/notesMasters/notesMaster1.xml" Id="Rb4920bd6184d409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f627e510f454197" /><Relationship Type="http://schemas.openxmlformats.org/officeDocument/2006/relationships/notesMaster" Target="/ppt/notesMasters/notesMaster1.xml" Id="R5e6bf4c0bde6498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Frame the project as a forwarding-path experiment, not a bot blocker.</a:t>
            </a:r>
          </a:p>
          <a:p xmlns:a="http://schemas.openxmlformats.org/drawingml/2006/main">
            <a:r>
              <a:t>The switch infers a service class and applies transport treatment without terminating TLS.</a:t>
            </a:r>
          </a:p>
          <a:p xmlns:a="http://schemas.openxmlformats.org/drawingml/2006/main">
            <a:r>
              <a:t>Source: requirements.md sections 1 through 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queue drawing to explain the p99 failure mode.</a:t>
            </a:r>
          </a:p>
          <a:p xmlns:a="http://schemas.openxmlformats.org/drawingml/2006/main">
            <a:r>
              <a:t>Avoid repeating broad novelty claims. July 2026 Internet-Drafts propose explicit agent identity tied to QoS.</a:t>
            </a:r>
          </a:p>
          <a:p xmlns:a="http://schemas.openxmlformats.org/drawingml/2006/main">
            <a:r>
              <a:t>Our claim-safe distinction is behavioral inference in the forwarding path without cooperative identity.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left to right. All per-packet decisions stay in the switch.</a:t>
            </a:r>
          </a:p>
          <a:p xmlns:a="http://schemas.openxmlformats.org/drawingml/2006/main">
            <a:r>
              <a:t>The controller refines state and installs policy. Uncertain traffic follows the fail-open path.</a:t>
            </a:r>
          </a:p>
          <a:p xmlns:a="http://schemas.openxmlformats.org/drawingml/2006/main">
            <a:r>
              <a:t>Source: design.md sections 3, 4, and 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Stress that the policy has three meaningful traffic classes plus UNKNOWN.</a:t>
            </a:r>
          </a:p>
          <a:p xmlns:a="http://schemas.openxmlformats.org/drawingml/2006/main">
            <a:r>
              <a:t>Interactive agent traffic receives good service. The system does not equate all agents with abuse.</a:t>
            </a:r>
          </a:p>
          <a:p xmlns:a="http://schemas.openxmlformats.org/drawingml/2006/main">
            <a:r>
              <a:t>Source: common/contracts.py and design.md section 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data plane uses bounded state and shift-based fixed-point arithmetic.</a:t>
            </a:r>
          </a:p>
          <a:p xmlns:a="http://schemas.openxmlformats.org/drawingml/2006/main">
            <a:r>
              <a:t>Every uncertain parser, feature, and classification path must preserve forwarding.</a:t>
            </a:r>
          </a:p>
          <a:p xmlns:a="http://schemas.openxmlformats.org/drawingml/2006/main">
            <a:r>
              <a:t>Source: design.md sections 4.2 and 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only chart in this draft reports configuration coverage.</a:t>
            </a:r>
          </a:p>
          <a:p xmlns:a="http://schemas.openxmlformats.org/drawingml/2006/main">
            <a:r>
              <a:t>Do not present the anchors as achieved until anchors.json verifies both checks from audited artifacts.</a:t>
            </a:r>
          </a:p>
          <a:p xmlns:a="http://schemas.openxmlformats.org/drawingml/2006/main">
            <a:r>
              <a:t>Source: eval/configs/*burst_sweep_v1.yaml and requirements.md section 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is a conceptual demo storyboard, not a result.</a:t>
            </a:r>
          </a:p>
          <a:p xmlns:a="http://schemas.openxmlformats.org/drawingml/2006/main">
            <a:r>
              <a:t>During a real rehearsal, show the live dashboard and archive the raw telemetry, labels, and recording.</a:t>
            </a:r>
          </a:p>
          <a:p xmlns:a="http://schemas.openxmlformats.org/drawingml/2006/main">
            <a:r>
              <a:t>Source: harness/demo.py, dashboard/server.py, and docs/demo_rehearsal.md.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chain as the project's central reproducibility control.</a:t>
            </a:r>
          </a:p>
          <a:p xmlns:a="http://schemas.openxmlformats.org/drawingml/2006/main">
            <a:r>
              <a:t>The aggregate command rejects incomplete coordinates and artifacts whose hashes no longer match.</a:t>
            </a:r>
          </a:p>
          <a:p xmlns:a="http://schemas.openxmlformats.org/drawingml/2006/main">
            <a:r>
              <a:t>Source: eval/run_experiment.py, eval/aggregate.py, and eval/anchors.py.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Keep this status slide until the Linux execution evidence exists.</a:t>
            </a:r>
          </a:p>
          <a:p xmlns:a="http://schemas.openxmlformats.org/drawingml/2006/main">
            <a:r>
              <a:t>The current macOS host has no active Docker daemon, p4c, Mininet, tcpreplay, or tshark.</a:t>
            </a:r>
          </a:p>
          <a:p xmlns:a="http://schemas.openxmlformats.org/drawingml/2006/main">
            <a:r>
              <a:t>Source: docs/notebook.md and eval/preflight.py.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End with the evidence standard, not an unverified result.</a:t>
            </a:r>
          </a:p>
          <a:p xmlns:a="http://schemas.openxmlformats.org/drawingml/2006/main">
            <a:r>
              <a:t>The fallback recording may only come from a successful archived rehearsal.</a:t>
            </a:r>
          </a:p>
          <a:p xmlns:a="http://schemas.openxmlformats.org/drawingml/2006/main">
            <a:r>
              <a:t>Source: docs/demo_rehearsal.md.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67eaf158a30442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9a52f47e7ff458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556b8c4fc64445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fdf660076304d0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19939cb49c8494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5d41b561cf5413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F88D7B5-914C-4640-A87A-4E4D9682260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E9506B7-7693-4780-BB83-618C54DFB96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15C18810-BA3A-4A1A-85EA-586C2DA7B6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E747DDB-AFB3-4CC2-A3DF-6294010875D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ED644E6B-330F-44B0-A450-1CC177C2A0A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7481099-C78E-453A-97E0-E1E4EA4DE81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2460B64-3692-49C7-B1DF-AD084D2D3F8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EAB94043-5F9E-4A77-A714-9BA6D14BD26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3ACCE83-ACEA-49D6-A71D-C36AF04B947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B8B50B1-D6FB-4391-922B-15317A4E60B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f5c4b2691214ac9" /><Relationship Type="http://schemas.openxmlformats.org/officeDocument/2006/relationships/slideLayout" Target="/ppt/slideLayouts/slideLayout1.xml" Id="Rbc9fee8f0d7643f0" /><Relationship Type="http://schemas.openxmlformats.org/officeDocument/2006/relationships/slideLayout" Target="/ppt/slideLayouts/slideLayout2.xml" Id="R778a25bf7d9345f5" /><Relationship Type="http://schemas.openxmlformats.org/officeDocument/2006/relationships/slideLayout" Target="/ppt/slideLayouts/slideLayout3.xml" Id="Rb8e4a24018d04c8c" /><Relationship Type="http://schemas.openxmlformats.org/officeDocument/2006/relationships/slideLayout" Target="/ppt/slideLayouts/slideLayout4.xml" Id="R862635f8926b45e7" /><Relationship Type="http://schemas.openxmlformats.org/officeDocument/2006/relationships/slideLayout" Target="/ppt/slideLayouts/slideLayout5.xml" Id="R996f55f2ee7c4df2" /><Relationship Type="http://schemas.openxmlformats.org/officeDocument/2006/relationships/slideLayout" Target="/ppt/slideLayouts/slideLayout6.xml" Id="Racd3e96c589e423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c9fee8f0d7643f0"/>
    <p:sldLayoutId xmlns:r="http://schemas.openxmlformats.org/officeDocument/2006/relationships" id="2147483650" r:id="R778a25bf7d9345f5"/>
    <p:sldLayoutId xmlns:r="http://schemas.openxmlformats.org/officeDocument/2006/relationships" id="2147483651" r:id="Rb8e4a24018d04c8c"/>
    <p:sldLayoutId xmlns:r="http://schemas.openxmlformats.org/officeDocument/2006/relationships" id="2147483652" r:id="R862635f8926b45e7"/>
    <p:sldLayoutId xmlns:r="http://schemas.openxmlformats.org/officeDocument/2006/relationships" id="2147483653" r:id="R996f55f2ee7c4df2"/>
    <p:sldLayoutId xmlns:r="http://schemas.openxmlformats.org/officeDocument/2006/relationships" id="2147483654" r:id="Racd3e96c589e423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271937aa04b48aa" /><Relationship Type="http://schemas.openxmlformats.org/officeDocument/2006/relationships/notesSlide" Target="/ppt/notesSlides/notesSlide1.xml" Id="R14347c11ab564a8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4789fb1f3534847" /><Relationship Type="http://schemas.openxmlformats.org/officeDocument/2006/relationships/notesSlide" Target="/ppt/notesSlides/notesSlide2.xml" Id="R699424ee7faf410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667e93384ec406d" /><Relationship Type="http://schemas.openxmlformats.org/officeDocument/2006/relationships/notesSlide" Target="/ppt/notesSlides/notesSlide3.xml" Id="R284951b70cb1404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7bb86c960ad44a4" /><Relationship Type="http://schemas.openxmlformats.org/officeDocument/2006/relationships/notesSlide" Target="/ppt/notesSlides/notesSlide4.xml" Id="Rd103170a570b42c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acac7c8c9c3404e" /><Relationship Type="http://schemas.openxmlformats.org/officeDocument/2006/relationships/notesSlide" Target="/ppt/notesSlides/notesSlide5.xml" Id="Rce68090798b3459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70cb75e5d7e4d58" /><Relationship Type="http://schemas.openxmlformats.org/officeDocument/2006/relationships/chart" Target="/ppt/slides/charts/chart1.xml" Id="R94da19d5d7824754" /><Relationship Type="http://schemas.openxmlformats.org/officeDocument/2006/relationships/notesSlide" Target="/ppt/notesSlides/notesSlide6.xml" Id="R00678f69a90f4ca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665b96baa674d45" /><Relationship Type="http://schemas.openxmlformats.org/officeDocument/2006/relationships/notesSlide" Target="/ppt/notesSlides/notesSlide7.xml" Id="Rd3bd6859f2fa40a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1b37790693040dd" /><Relationship Type="http://schemas.openxmlformats.org/officeDocument/2006/relationships/notesSlide" Target="/ppt/notesSlides/notesSlide8.xml" Id="Rccb769432706457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0430bc00e8e49d0" /><Relationship Type="http://schemas.openxmlformats.org/officeDocument/2006/relationships/notesSlide" Target="/ppt/notesSlides/notesSlide9.xml" Id="R7a6fa8cad1b9402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1e868b729af41be" /><Relationship Type="http://schemas.openxmlformats.org/officeDocument/2006/relationships/notesSlide" Target="/ppt/notesSlides/notesSlide10.xml" Id="R7e82f6b22639480f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varyColors val="0"/>
        <c:ser>
          <c:idx val="0"/>
          <c:order val="0"/>
          <c:tx>
            <c:v>Configured cells</c:v>
          </c:tx>
          <c:spPr>
            <a:solidFill xmlns:a="http://schemas.openxmlformats.org/drawingml/2006/main">
              <a:srgbClr val="00BFA6"/>
            </a:solidFill>
          </c:spPr>
          <c:cat>
            <c:strRef>
              <c:f>'Chart Data'!$A$2:$A$6</c:f>
              <c:strCache>
                <c:ptCount val="5"/>
                <c:pt idx="0">
                  <c:v>Ours</c:v>
                </c:pt>
                <c:pt idx="1">
                  <c:v>FIFO</c:v>
                </c:pt>
                <c:pt idx="2">
                  <c:v>DiffServ</c:v>
                </c:pt>
                <c:pt idx="3">
                  <c:v>Fair queue</c:v>
                </c:pt>
                <c:pt idx="4">
                  <c:v>App limiter</c:v>
                </c:pt>
              </c:strCache>
            </c:strRef>
          </c:cat>
          <c:val>
            <c:numRef>
              <c:f>'Chart Data'!$B$2:$B$6</c:f>
              <c:numCache>
                <c:formatCode>General</c:formatCode>
                <c:ptCount val="5"/>
                <c:pt idx="0">
                  <c:v>75</c:v>
                </c:pt>
                <c:pt idx="1">
                  <c:v>75</c:v>
                </c:pt>
                <c:pt idx="2">
                  <c:v>75</c:v>
                </c:pt>
                <c:pt idx="3">
                  <c:v>75</c:v>
                </c:pt>
                <c:pt idx="4">
                  <c:v>75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DE4E2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19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E9524C-DBC5-4CE9-9769-1EA3D14C1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81050"/>
            <a:ext cx="1428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FA6"/>
          </a:solidFill>
          <a:ln xmlns:a="http://schemas.openxmlformats.org/drawingml/2006/main" w="0">
            <a:solidFill>
              <a:srgbClr val="00BFA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EA37D9-A456-4625-BB37-A9240A0E4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52550"/>
            <a:ext cx="6572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4650" b="1">
                <a:solidFill>
                  <a:srgbClr val="F5F2E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4650" b="1">
                <a:solidFill>
                  <a:srgbClr val="F5F2EA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F5F2EA"/>
                </a:solidFill>
                <a:latin typeface="Arial"/>
                <a:ea typeface="Arial"/>
                <a:cs typeface="Arial"/>
              </a:rPr>
              <a:t>Agent-Aware</a:t>
            </a:r>
          </a:p>
          <a:p xmlns:a="http://schemas.openxmlformats.org/drawingml/2006/main">
            <a:pPr algn="l">
              <a:defRPr sz="4650" b="1">
                <a:solidFill>
                  <a:srgbClr val="F5F2EA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F5F2EA"/>
                </a:solidFill>
                <a:latin typeface="Arial"/>
                <a:ea typeface="Arial"/>
                <a:cs typeface="Arial"/>
              </a:rPr>
              <a:t>Networking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7650FB-2466-4867-871F-7A0FDBDF6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38550"/>
            <a:ext cx="628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AFC0C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AFC0C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AFC0C2"/>
                </a:solidFill>
                <a:latin typeface="Arial"/>
                <a:ea typeface="Arial"/>
                <a:cs typeface="Arial"/>
              </a:rPr>
              <a:t>Traffic classification and QoS inside a programmable switch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A56C6B-28A5-4B79-83B2-D76FB0FC2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162050"/>
            <a:ext cx="2571750" cy="25717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66675">
            <a:solidFill>
              <a:srgbClr val="00BFA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0C6DAE-BDA1-4560-9B32-1FB870982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781175"/>
            <a:ext cx="1333500" cy="1333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BFA6"/>
          </a:solidFill>
          <a:ln xmlns:a="http://schemas.openxmlformats.org/drawingml/2006/main" w="0">
            <a:solidFill>
              <a:srgbClr val="00BFA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C09045-FEFF-4BEE-972D-4573CB604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085975"/>
            <a:ext cx="9906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3150" b="1">
                <a:solidFill>
                  <a:srgbClr val="10191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3150" b="1">
                <a:solidFill>
                  <a:srgbClr val="10191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0191D"/>
                </a:solidFill>
                <a:latin typeface="Arial"/>
                <a:ea typeface="Arial"/>
                <a:cs typeface="Arial"/>
              </a:rPr>
              <a:t>P4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99000D-C343-42B3-89F9-83A36A3C1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43575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00BFA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BFA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BFA6"/>
                </a:solidFill>
                <a:latin typeface="Arial"/>
                <a:ea typeface="Arial"/>
                <a:cs typeface="Arial"/>
              </a:rPr>
              <a:t>Research prototype presentation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2ED8E9-F475-4097-9B5A-F08BF3E81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743575"/>
            <a:ext cx="361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r">
              <a:defRPr sz="1200" b="0">
                <a:solidFill>
                  <a:srgbClr val="AFC0C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AFC0C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FC0C2"/>
                </a:solidFill>
                <a:latin typeface="Arial"/>
                <a:ea typeface="Arial"/>
                <a:cs typeface="Arial"/>
              </a:rPr>
              <a:t>BMv2  |  Mininet  |  Ryu</a:t>
            </a:r>
          </a:p>
        </p:txBody>
      </p:sp>
    </p:spTree>
    <p:extLst>
      <p:ext uri="{BB962C8B-B14F-4D97-AF65-F5344CB8AC3E}">
        <p14:creationId xmlns:p14="http://schemas.microsoft.com/office/powerpoint/2010/main" val="204874097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4272E58-942E-4C00-8B95-94BE8C3E6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9810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2400" b="1">
                <a:solidFill>
                  <a:srgbClr val="10191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10191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0191D"/>
                </a:solidFill>
                <a:latin typeface="Arial"/>
                <a:ea typeface="Arial"/>
                <a:cs typeface="Arial"/>
              </a:rPr>
              <a:t>The congestion 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FA14E1-3981-4CF3-81E7-A540EAE50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400050"/>
            <a:ext cx="781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r">
              <a:defRPr sz="1350" b="1">
                <a:solidFill>
                  <a:srgbClr val="6070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350" b="1">
                <a:solidFill>
                  <a:srgbClr val="60707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0707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596087-19AB-48D8-AFFE-41A59B3E7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9535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91D"/>
          </a:solidFill>
          <a:ln xmlns:a="http://schemas.openxmlformats.org/drawingml/2006/main" w="0">
            <a:solidFill>
              <a:srgbClr val="10191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D02189-8E45-41C9-ABA2-A665AE712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81100"/>
            <a:ext cx="6572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3062"/>
          </a:bodyPr>
          <a:lstStyle xmlns:a="http://schemas.openxmlformats.org/drawingml/2006/main">
            <a:defPPr algn="l">
              <a:defRPr sz="2100" b="1">
                <a:solidFill>
                  <a:srgbClr val="10191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10191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191D"/>
                </a:solidFill>
                <a:latin typeface="Arial"/>
                <a:ea typeface="Arial"/>
                <a:cs typeface="Arial"/>
              </a:rPr>
              <a:t>One human flow shares a queue with a machine-paced burst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21B48E-CFE5-4C79-89F7-4FB691A1D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28850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00BFA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BFA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BFA6"/>
                </a:solidFill>
                <a:latin typeface="Arial"/>
                <a:ea typeface="Arial"/>
                <a:cs typeface="Arial"/>
              </a:rPr>
              <a:t>human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730A80-0D7A-423A-9DE6-30FA4CD64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305050"/>
            <a:ext cx="4953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FA6"/>
          </a:solidFill>
          <a:ln xmlns:a="http://schemas.openxmlformats.org/drawingml/2006/main" w="0">
            <a:solidFill>
              <a:srgbClr val="00BFA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588924-205B-4042-B270-38B7C6958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86050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F0645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F0645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06455"/>
                </a:solidFill>
                <a:latin typeface="Arial"/>
                <a:ea typeface="Arial"/>
                <a:cs typeface="Arial"/>
              </a:rPr>
              <a:t>agent 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270703-2AA5-443C-B3FA-2E9029992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762250"/>
            <a:ext cx="4953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455"/>
          </a:solidFill>
          <a:ln xmlns:a="http://schemas.openxmlformats.org/drawingml/2006/main" w="0">
            <a:solidFill>
              <a:srgbClr val="F0645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658447-EAB6-4B4D-A68B-148C631E9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43250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F0645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F0645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06455"/>
                </a:solidFill>
                <a:latin typeface="Arial"/>
                <a:ea typeface="Arial"/>
                <a:cs typeface="Arial"/>
              </a:rPr>
              <a:t>agent 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B44EF7-FCC9-4318-8A32-E0DDB39DB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219450"/>
            <a:ext cx="4953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455"/>
          </a:solidFill>
          <a:ln xmlns:a="http://schemas.openxmlformats.org/drawingml/2006/main" w="0">
            <a:solidFill>
              <a:srgbClr val="F0645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94ACF0-1AE7-4109-881B-C0BC7C216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00450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F0645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F0645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06455"/>
                </a:solidFill>
                <a:latin typeface="Arial"/>
                <a:ea typeface="Arial"/>
                <a:cs typeface="Arial"/>
              </a:rPr>
              <a:t>agent 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71052C-C6D3-4BC7-A239-72E2D539F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676650"/>
            <a:ext cx="4953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455"/>
          </a:solidFill>
          <a:ln xmlns:a="http://schemas.openxmlformats.org/drawingml/2006/main" w="0">
            <a:solidFill>
              <a:srgbClr val="F0645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1A22AD-163B-4E70-BB40-43A3690F6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57650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F0645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F0645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06455"/>
                </a:solidFill>
                <a:latin typeface="Arial"/>
                <a:ea typeface="Arial"/>
                <a:cs typeface="Arial"/>
              </a:rPr>
              <a:t>agent 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3E0E1F-9D0D-4018-9BC5-95297BD75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133850"/>
            <a:ext cx="4953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455"/>
          </a:solidFill>
          <a:ln xmlns:a="http://schemas.openxmlformats.org/drawingml/2006/main" w="0">
            <a:solidFill>
              <a:srgbClr val="F0645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7C7CFF-D0E0-492B-8590-5F4AADF11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14850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F0645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F0645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06455"/>
                </a:solidFill>
                <a:latin typeface="Arial"/>
                <a:ea typeface="Arial"/>
                <a:cs typeface="Arial"/>
              </a:rPr>
              <a:t>agent 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066212-FCBA-45D6-A033-96201C8EC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591050"/>
            <a:ext cx="4953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455"/>
          </a:solidFill>
          <a:ln xmlns:a="http://schemas.openxmlformats.org/drawingml/2006/main" w="0">
            <a:solidFill>
              <a:srgbClr val="F0645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655FDD-4A5C-40BC-AB46-531802D7E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095500"/>
            <a:ext cx="1162050" cy="2876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91D"/>
          </a:solidFill>
          <a:ln xmlns:a="http://schemas.openxmlformats.org/drawingml/2006/main" w="0">
            <a:solidFill>
              <a:srgbClr val="10191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83717D-193D-46CA-A6A2-59F3DDA51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009900"/>
            <a:ext cx="8191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425" b="1">
                <a:solidFill>
                  <a:srgbClr val="F5F2E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F5F2E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5F2EA"/>
                </a:solidFill>
                <a:latin typeface="Arial"/>
                <a:ea typeface="Arial"/>
                <a:cs typeface="Arial"/>
              </a:rPr>
              <a:t>shared</a:t>
            </a:r>
          </a:p>
          <a:p xmlns:a="http://schemas.openxmlformats.org/drawingml/2006/main">
            <a:pPr algn="ctr">
              <a:defRPr sz="1425" b="1">
                <a:solidFill>
                  <a:srgbClr val="F5F2E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5F2EA"/>
                </a:solidFill>
                <a:latin typeface="Arial"/>
                <a:ea typeface="Arial"/>
                <a:cs typeface="Arial"/>
              </a:rPr>
              <a:t>queue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72D564-5E60-4316-A693-AE6FF754F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305050"/>
            <a:ext cx="242887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FA6"/>
          </a:solidFill>
          <a:ln xmlns:a="http://schemas.openxmlformats.org/drawingml/2006/main" w="0">
            <a:solidFill>
              <a:srgbClr val="00BFA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329A80B-D4BE-49D3-8703-1AE67D8E8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647950"/>
            <a:ext cx="2266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F0645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F0645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06455"/>
                </a:solidFill>
                <a:latin typeface="Arial"/>
                <a:ea typeface="Arial"/>
                <a:cs typeface="Arial"/>
              </a:rPr>
              <a:t>tail latency spike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AAA12F9-8024-40CE-ACDF-0BCD9F10F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219450"/>
            <a:ext cx="2381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6070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0707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7076"/>
                </a:solidFill>
                <a:latin typeface="Arial"/>
                <a:ea typeface="Arial"/>
                <a:cs typeface="Arial"/>
              </a:rPr>
              <a:t>Port 443 and valid TLS make the flows look alike to conventional policy.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BF1AC20-9B32-440C-97D8-69F93DD05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10896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825" b="0">
                <a:solidFill>
                  <a:srgbClr val="6070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25" b="0">
                <a:solidFill>
                  <a:srgbClr val="60707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07076"/>
                </a:solidFill>
                <a:latin typeface="Arial"/>
                <a:ea typeface="Arial"/>
                <a:cs typeface="Arial"/>
              </a:rPr>
              <a:t>Problem statement: encrypted human and agent flows contend at the same bottleneck</a:t>
            </a:r>
          </a:p>
        </p:txBody>
      </p:sp>
    </p:spTree>
    <p:extLst>
      <p:ext uri="{BB962C8B-B14F-4D97-AF65-F5344CB8AC3E}">
        <p14:creationId xmlns:p14="http://schemas.microsoft.com/office/powerpoint/2010/main" val="148258676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019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F75EA57-7B26-441B-9B89-1618F657D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9810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2400" b="1">
                <a:solidFill>
                  <a:srgbClr val="F5F2E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F5F2E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5F2EA"/>
                </a:solidFill>
                <a:latin typeface="Arial"/>
                <a:ea typeface="Arial"/>
                <a:cs typeface="Arial"/>
              </a:rPr>
              <a:t>System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B1A227-5697-40FC-8917-064977ACD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400050"/>
            <a:ext cx="781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r">
              <a:defRPr sz="1350" b="1">
                <a:solidFill>
                  <a:srgbClr val="AFC0C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350" b="1">
                <a:solidFill>
                  <a:srgbClr val="AFC0C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AFC0C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148643-B152-4E75-BA72-10BF0A7A5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9535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FA6"/>
          </a:solidFill>
          <a:ln xmlns:a="http://schemas.openxmlformats.org/drawingml/2006/main" w="0">
            <a:solidFill>
              <a:srgbClr val="00BFA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37141E-F45D-4F41-A9BC-9A21A4E43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AFC0C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AFC0C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AFC0C2"/>
                </a:solidFill>
                <a:latin typeface="Arial"/>
                <a:ea typeface="Arial"/>
                <a:cs typeface="Arial"/>
              </a:rPr>
              <a:t>Traffic sources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BBA11C-B5D9-4760-B4A8-CA5E09F47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09750"/>
            <a:ext cx="23812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00BFA6"/>
          </a:solidFill>
          <a:ln xmlns:a="http://schemas.openxmlformats.org/drawingml/2006/main" w="0">
            <a:solidFill>
              <a:srgbClr val="00BFA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601BA0-C778-4290-85E7-B071CFD35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43100"/>
            <a:ext cx="2038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425" b="1">
                <a:solidFill>
                  <a:srgbClr val="10191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10191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191D"/>
                </a:solidFill>
                <a:latin typeface="Arial"/>
                <a:ea typeface="Arial"/>
                <a:cs typeface="Arial"/>
              </a:rPr>
              <a:t>Human traffic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230C1E-163B-401A-8086-BC34654A9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38450"/>
            <a:ext cx="23812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06455"/>
          </a:solidFill>
          <a:ln xmlns:a="http://schemas.openxmlformats.org/drawingml/2006/main" w="0">
            <a:solidFill>
              <a:srgbClr val="F0645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3AF32F-C232-4C46-A3A5-46BFD236C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71800"/>
            <a:ext cx="2038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425" b="1">
                <a:solidFill>
                  <a:srgbClr val="10191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10191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191D"/>
                </a:solidFill>
                <a:latin typeface="Arial"/>
                <a:ea typeface="Arial"/>
                <a:cs typeface="Arial"/>
              </a:rPr>
              <a:t>Agent frameworks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DD7B22-6B87-41EC-BE03-571BF82E5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67150"/>
            <a:ext cx="23812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06455"/>
          </a:solidFill>
          <a:ln xmlns:a="http://schemas.openxmlformats.org/drawingml/2006/main" w="0">
            <a:solidFill>
              <a:srgbClr val="F0645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69744B-03F3-4C2E-A028-CE704AEE2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00500"/>
            <a:ext cx="2038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425" b="1">
                <a:solidFill>
                  <a:srgbClr val="10191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10191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191D"/>
                </a:solidFill>
                <a:latin typeface="Arial"/>
                <a:ea typeface="Arial"/>
                <a:cs typeface="Arial"/>
              </a:rPr>
              <a:t>Background load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4D87DF-B9AA-4810-8AD1-034785B83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125730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AFC0C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AFC0C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AFC0C2"/>
                </a:solidFill>
                <a:latin typeface="Arial"/>
                <a:ea typeface="Arial"/>
                <a:cs typeface="Arial"/>
              </a:rPr>
              <a:t>BMv2 switch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A6C82A-DB36-4904-87E2-02EAFD3CB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1809750"/>
            <a:ext cx="41910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17272C"/>
          </a:solidFill>
          <a:ln xmlns:a="http://schemas.openxmlformats.org/drawingml/2006/main" w="28575">
            <a:solidFill>
              <a:srgbClr val="00BFA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16A92F-6928-4965-8683-903281B2C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076450"/>
            <a:ext cx="1123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00BFA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00BFA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BFA6"/>
                </a:solidFill>
                <a:latin typeface="Arial"/>
                <a:ea typeface="Arial"/>
                <a:cs typeface="Arial"/>
              </a:rPr>
              <a:t>PARSE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F61FFD-083C-47CD-91C6-E49333C13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076450"/>
            <a:ext cx="2343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F5F2E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F5F2E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5F2EA"/>
                </a:solidFill>
                <a:latin typeface="Arial"/>
                <a:ea typeface="Arial"/>
                <a:cs typeface="Arial"/>
              </a:rPr>
              <a:t>Ethernet, IP, TCP, TLS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93254C-0AB0-4DB7-8F23-B532673E1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762250"/>
            <a:ext cx="1123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00BFA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00BFA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BFA6"/>
                </a:solidFill>
                <a:latin typeface="Arial"/>
                <a:ea typeface="Arial"/>
                <a:cs typeface="Arial"/>
              </a:rPr>
              <a:t>FEATURES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F6623B-8B7C-4394-805D-6957A7E08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762250"/>
            <a:ext cx="2343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F5F2E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F5F2E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5F2EA"/>
                </a:solidFill>
                <a:latin typeface="Arial"/>
                <a:ea typeface="Arial"/>
                <a:cs typeface="Arial"/>
              </a:rPr>
              <a:t>bounded flow state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8D5CB3-DAE7-4A3D-8A97-19E4B4ABC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448050"/>
            <a:ext cx="1123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00BFA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00BFA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BFA6"/>
                </a:solidFill>
                <a:latin typeface="Arial"/>
                <a:ea typeface="Arial"/>
                <a:cs typeface="Arial"/>
              </a:rPr>
              <a:t>CLASSIFY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560CFB-0D0A-47ED-A9AC-8DA745B08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448050"/>
            <a:ext cx="2343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F5F2E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F5F2E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5F2EA"/>
                </a:solidFill>
                <a:latin typeface="Arial"/>
                <a:ea typeface="Arial"/>
                <a:cs typeface="Arial"/>
              </a:rPr>
              <a:t>range match tree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B5EE11A-736E-4800-B8D2-E910C12BB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133850"/>
            <a:ext cx="1123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00BFA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00BFA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BFA6"/>
                </a:solidFill>
                <a:latin typeface="Arial"/>
                <a:ea typeface="Arial"/>
                <a:cs typeface="Arial"/>
              </a:rPr>
              <a:t>ACT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B414C7E-D099-4AD3-82FB-08390B87E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4133850"/>
            <a:ext cx="2343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F5F2E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F5F2E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5F2EA"/>
                </a:solidFill>
                <a:latin typeface="Arial"/>
                <a:ea typeface="Arial"/>
                <a:cs typeface="Arial"/>
              </a:rPr>
              <a:t>queue, DSCP, ECN, meter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B2B5E2A-EA1C-48AD-A3EB-A95C0CE1E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809750"/>
            <a:ext cx="25908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5F2EA"/>
          </a:solidFill>
          <a:ln xmlns:a="http://schemas.openxmlformats.org/drawingml/2006/main" w="0">
            <a:solidFill>
              <a:srgbClr val="F5F2E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37457B5-BFA2-4AD0-9DDD-EAA2D8864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095500"/>
            <a:ext cx="2209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650" b="1">
                <a:solidFill>
                  <a:srgbClr val="10191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10191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91D"/>
                </a:solidFill>
                <a:latin typeface="Arial"/>
                <a:ea typeface="Arial"/>
                <a:cs typeface="Arial"/>
              </a:rPr>
              <a:t>MCP and web target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ED39DA4-8C05-4B8D-86C9-3C06D1ED7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390900"/>
            <a:ext cx="2590800" cy="15621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2A3A3E"/>
          </a:solidFill>
          <a:ln xmlns:a="http://schemas.openxmlformats.org/drawingml/2006/main" w="19050">
            <a:solidFill>
              <a:srgbClr val="E6B84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42EC25D-8E3C-47B1-920B-2AA014544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600450"/>
            <a:ext cx="2209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650" b="1">
                <a:solidFill>
                  <a:srgbClr val="E6B8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E6B84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E6B84A"/>
                </a:solidFill>
                <a:latin typeface="Arial"/>
                <a:ea typeface="Arial"/>
                <a:cs typeface="Arial"/>
              </a:rPr>
              <a:t>Ryu controller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CC16EBF-66E6-43B1-AC35-EAACD553F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038600"/>
            <a:ext cx="20193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200" b="0">
                <a:solidFill>
                  <a:srgbClr val="F5F2E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F5F2E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5F2EA"/>
                </a:solidFill>
                <a:latin typeface="Arial"/>
                <a:ea typeface="Arial"/>
                <a:cs typeface="Arial"/>
              </a:rPr>
              <a:t>policy install</a:t>
            </a:r>
          </a:p>
          <a:p xmlns:a="http://schemas.openxmlformats.org/drawingml/2006/main">
            <a:pPr algn="ctr">
              <a:defRPr sz="1200" b="0">
                <a:solidFill>
                  <a:srgbClr val="F5F2E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5F2EA"/>
                </a:solidFill>
                <a:latin typeface="Arial"/>
                <a:ea typeface="Arial"/>
                <a:cs typeface="Arial"/>
              </a:rPr>
              <a:t>slow-path refinement</a:t>
            </a:r>
          </a:p>
          <a:p xmlns:a="http://schemas.openxmlformats.org/drawingml/2006/main">
            <a:pPr algn="ctr">
              <a:defRPr sz="1200" b="0">
                <a:solidFill>
                  <a:srgbClr val="F5F2E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5F2EA"/>
                </a:solidFill>
                <a:latin typeface="Arial"/>
                <a:ea typeface="Arial"/>
                <a:cs typeface="Arial"/>
              </a:rPr>
              <a:t>state aging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A1C3461-E773-465F-B146-40B579C72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3048000"/>
            <a:ext cx="628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AFC0C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AFC0C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AFC0C2"/>
                </a:solidFill>
                <a:latin typeface="Arial"/>
                <a:ea typeface="Arial"/>
                <a:cs typeface="Arial"/>
              </a:rPr>
              <a:t>traffic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FC1BD02-A88F-4172-958E-811325707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152650"/>
            <a:ext cx="723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AFC0C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AFC0C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AFC0C2"/>
                </a:solidFill>
                <a:latin typeface="Arial"/>
                <a:ea typeface="Arial"/>
                <a:cs typeface="Arial"/>
              </a:rPr>
              <a:t>forward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2C7C5D9-2AD0-41AE-9A4C-15A87BC5E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000500"/>
            <a:ext cx="68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E6B8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E6B84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E6B84A"/>
                </a:solidFill>
                <a:latin typeface="Arial"/>
                <a:ea typeface="Arial"/>
                <a:cs typeface="Arial"/>
              </a:rPr>
              <a:t>refine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D3D9C0F-C4D7-4264-AFE7-A20682AE4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10896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825" b="0">
                <a:solidFill>
                  <a:srgbClr val="AFC0C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25" b="0">
                <a:solidFill>
                  <a:srgbClr val="AFC0C2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AFC0C2"/>
                </a:solidFill>
                <a:latin typeface="Arial"/>
                <a:ea typeface="Arial"/>
                <a:cs typeface="Arial"/>
              </a:rPr>
              <a:t>Frozen interfaces: design.md section 4</a:t>
            </a:r>
          </a:p>
        </p:txBody>
      </p:sp>
    </p:spTree>
    <p:extLst>
      <p:ext uri="{BB962C8B-B14F-4D97-AF65-F5344CB8AC3E}">
        <p14:creationId xmlns:p14="http://schemas.microsoft.com/office/powerpoint/2010/main" val="121797550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6B3A417-A8B9-404F-B1B2-0A94F3544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9810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2400" b="1">
                <a:solidFill>
                  <a:srgbClr val="10191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10191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0191D"/>
                </a:solidFill>
                <a:latin typeface="Arial"/>
                <a:ea typeface="Arial"/>
                <a:cs typeface="Arial"/>
              </a:rPr>
              <a:t>Traffic classes and treatment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865A0F-4575-4C40-9902-E905F9F69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400050"/>
            <a:ext cx="781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r">
              <a:defRPr sz="1350" b="1">
                <a:solidFill>
                  <a:srgbClr val="6070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350" b="1">
                <a:solidFill>
                  <a:srgbClr val="60707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0707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2FC019-3D46-4270-8FE4-DADF3EA37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9535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91D"/>
          </a:solidFill>
          <a:ln xmlns:a="http://schemas.openxmlformats.org/drawingml/2006/main" w="0">
            <a:solidFill>
              <a:srgbClr val="10191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B64E8A-4DCC-40DC-AAF8-A9B349939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5255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6070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60707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07076"/>
                </a:solidFill>
                <a:latin typeface="Arial"/>
                <a:ea typeface="Arial"/>
                <a:cs typeface="Arial"/>
              </a:rPr>
              <a:t>CLASS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B9FB58-5EBB-4BFA-B909-D9DAB5826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135255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6070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60707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07076"/>
                </a:solidFill>
                <a:latin typeface="Arial"/>
                <a:ea typeface="Arial"/>
                <a:cs typeface="Arial"/>
              </a:rPr>
              <a:t>MEANING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3B13E2-1179-4BB6-A74D-DD714B27B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352550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6070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60707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07076"/>
                </a:solidFill>
                <a:latin typeface="Arial"/>
                <a:ea typeface="Arial"/>
                <a:cs typeface="Arial"/>
              </a:rPr>
              <a:t>NETWORK TREATMENT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5907D5-ECE3-4A99-A3D6-B2E64C9A4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90700"/>
            <a:ext cx="95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FA6"/>
          </a:solidFill>
          <a:ln xmlns:a="http://schemas.openxmlformats.org/drawingml/2006/main" w="0">
            <a:solidFill>
              <a:srgbClr val="00BFA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D87549-E8A4-4714-B978-07996EC2D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790700"/>
            <a:ext cx="26479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00BFA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00BFA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BFA6"/>
                </a:solidFill>
                <a:latin typeface="Arial"/>
                <a:ea typeface="Arial"/>
                <a:cs typeface="Arial"/>
              </a:rPr>
              <a:t>HUMAN_INTERACTIVE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7FF6CB-5485-465E-A6B9-E5337BE27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1790700"/>
            <a:ext cx="342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10191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10191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91D"/>
                </a:solidFill>
                <a:latin typeface="Arial"/>
                <a:ea typeface="Arial"/>
                <a:cs typeface="Arial"/>
              </a:rPr>
              <a:t>Browsing and video-call-like traffic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736A48-9133-4A80-B12A-FC3D16F88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790700"/>
            <a:ext cx="3314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10191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0191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91D"/>
                </a:solidFill>
                <a:latin typeface="Arial"/>
                <a:ea typeface="Arial"/>
                <a:cs typeface="Arial"/>
              </a:rPr>
              <a:t>Protected queue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73EFA2-6804-4F19-AD06-98138D905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81300"/>
            <a:ext cx="95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B84A"/>
          </a:solidFill>
          <a:ln xmlns:a="http://schemas.openxmlformats.org/drawingml/2006/main" w="0">
            <a:solidFill>
              <a:srgbClr val="E6B84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4108C2-9267-420E-944C-DAA222121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81300"/>
            <a:ext cx="26479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E6B8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E6B84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E6B84A"/>
                </a:solidFill>
                <a:latin typeface="Arial"/>
                <a:ea typeface="Arial"/>
                <a:cs typeface="Arial"/>
              </a:rPr>
              <a:t>AGENT_INTERACTIVE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04841E-DE71-4DC1-9C70-6AFE6AC96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781300"/>
            <a:ext cx="342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10191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10191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91D"/>
                </a:solidFill>
                <a:latin typeface="Arial"/>
                <a:ea typeface="Arial"/>
                <a:cs typeface="Arial"/>
              </a:rPr>
              <a:t>Latency-sensitive MCP tool calls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5CB7BE-CE65-4D57-B65D-0AC9768AE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781300"/>
            <a:ext cx="3314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10191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0191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91D"/>
                </a:solidFill>
                <a:latin typeface="Arial"/>
                <a:ea typeface="Arial"/>
                <a:cs typeface="Arial"/>
              </a:rPr>
              <a:t>Good service with bounded share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5CC5A2-1703-42FA-83AD-6B774F731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71900"/>
            <a:ext cx="95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455"/>
          </a:solidFill>
          <a:ln xmlns:a="http://schemas.openxmlformats.org/drawingml/2006/main" w="0">
            <a:solidFill>
              <a:srgbClr val="F0645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6E332D-B4C3-44B9-AAD1-0DB0FD6D8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771900"/>
            <a:ext cx="26479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F0645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F0645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06455"/>
                </a:solidFill>
                <a:latin typeface="Arial"/>
                <a:ea typeface="Arial"/>
                <a:cs typeface="Arial"/>
              </a:rPr>
              <a:t>AGENT_BULK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2F2C43-16E2-4D42-8A8F-C8DB0FDF8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771900"/>
            <a:ext cx="342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10191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10191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91D"/>
                </a:solidFill>
                <a:latin typeface="Arial"/>
                <a:ea typeface="Arial"/>
                <a:cs typeface="Arial"/>
              </a:rPr>
              <a:t>Crawling, batch work, scraping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8683FA-0402-4E12-8575-2DB8D8FB6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771900"/>
            <a:ext cx="3314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10191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0191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91D"/>
                </a:solidFill>
                <a:latin typeface="Arial"/>
                <a:ea typeface="Arial"/>
                <a:cs typeface="Arial"/>
              </a:rPr>
              <a:t>Lowest priority and shaped first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548F4ED-8EB6-4E3E-9C78-EFF29DE0D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62500"/>
            <a:ext cx="95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076"/>
          </a:solidFill>
          <a:ln xmlns:a="http://schemas.openxmlformats.org/drawingml/2006/main" w="0">
            <a:solidFill>
              <a:srgbClr val="60707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5BBF5D4-5F34-4832-9F32-41957E99C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762500"/>
            <a:ext cx="26479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6070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60707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607076"/>
                </a:solidFill>
                <a:latin typeface="Arial"/>
                <a:ea typeface="Arial"/>
                <a:cs typeface="Arial"/>
              </a:rPr>
              <a:t>UNKNOWN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9FA4DA6-DD98-4556-847D-AEB5CA9F7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762500"/>
            <a:ext cx="342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10191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10191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91D"/>
                </a:solidFill>
                <a:latin typeface="Arial"/>
                <a:ea typeface="Arial"/>
                <a:cs typeface="Arial"/>
              </a:rPr>
              <a:t>Insufficient or uncertain evidence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3D0A746-DD0A-4E84-9E98-C4937D478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762500"/>
            <a:ext cx="3314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10191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0191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91D"/>
                </a:solidFill>
                <a:latin typeface="Arial"/>
                <a:ea typeface="Arial"/>
                <a:cs typeface="Arial"/>
              </a:rPr>
              <a:t>Best-effort fail-open path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04CCAB8-877D-466E-9264-26CA2B1BB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10896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825" b="0">
                <a:solidFill>
                  <a:srgbClr val="6070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25" b="0">
                <a:solidFill>
                  <a:srgbClr val="60707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07076"/>
                </a:solidFill>
                <a:latin typeface="Arial"/>
                <a:ea typeface="Arial"/>
                <a:cs typeface="Arial"/>
              </a:rPr>
              <a:t>Only AGENT_BULK may drop on meter red. Classification uncertainty never blocks traffic.</a:t>
            </a:r>
          </a:p>
        </p:txBody>
      </p:sp>
    </p:spTree>
    <p:extLst>
      <p:ext uri="{BB962C8B-B14F-4D97-AF65-F5344CB8AC3E}">
        <p14:creationId xmlns:p14="http://schemas.microsoft.com/office/powerpoint/2010/main" val="123169579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5549E6B-DEBA-454E-A8D7-51ED4CBB0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9810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2400" b="1">
                <a:solidFill>
                  <a:srgbClr val="10191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10191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0191D"/>
                </a:solidFill>
                <a:latin typeface="Arial"/>
                <a:ea typeface="Arial"/>
                <a:cs typeface="Arial"/>
              </a:rPr>
              <a:t>Per-packet pipeline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CEEFD0-AE97-4662-9523-4F2E248AF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400050"/>
            <a:ext cx="781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r">
              <a:defRPr sz="1350" b="1">
                <a:solidFill>
                  <a:srgbClr val="6070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350" b="1">
                <a:solidFill>
                  <a:srgbClr val="60707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07076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C319B5-AA96-4AFE-88B6-FF7A49F49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9535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91D"/>
          </a:solidFill>
          <a:ln xmlns:a="http://schemas.openxmlformats.org/drawingml/2006/main" w="0">
            <a:solidFill>
              <a:srgbClr val="10191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81BA6E-FF7D-4814-A3AA-F138C39EC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1450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BFA6"/>
          </a:solidFill>
          <a:ln xmlns:a="http://schemas.openxmlformats.org/drawingml/2006/main" w="0">
            <a:solidFill>
              <a:srgbClr val="00BFA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6CF6AA-DAE3-4CDF-BC16-F2487E425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47850"/>
            <a:ext cx="495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2550" b="1">
                <a:solidFill>
                  <a:srgbClr val="10191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550" b="1">
                <a:solidFill>
                  <a:srgbClr val="10191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191D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084CF8-F5D1-4017-9A00-C23A01A25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38450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0191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0191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91D"/>
                </a:solidFill>
                <a:latin typeface="Arial"/>
                <a:ea typeface="Arial"/>
                <a:cs typeface="Arial"/>
              </a:rPr>
              <a:t>Parse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2B4656-FCE9-4593-BF05-C280B178F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52800"/>
            <a:ext cx="22288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6070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0707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7076"/>
                </a:solidFill>
                <a:latin typeface="Arial"/>
                <a:ea typeface="Arial"/>
                <a:cs typeface="Arial"/>
              </a:rPr>
              <a:t>Headers and bounded TLS metadata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A1C0EE-C4FE-435F-B05C-992732EF5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1336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4E2"/>
          </a:solidFill>
          <a:ln xmlns:a="http://schemas.openxmlformats.org/drawingml/2006/main" w="0">
            <a:solidFill>
              <a:srgbClr val="DDE4E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A854A8-9B3E-40E8-A556-DB7567DBD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71450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BFA6"/>
          </a:solidFill>
          <a:ln xmlns:a="http://schemas.openxmlformats.org/drawingml/2006/main" w="0">
            <a:solidFill>
              <a:srgbClr val="00BFA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0F257A-9529-42C8-95D6-29702C9BB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1847850"/>
            <a:ext cx="495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2550" b="1">
                <a:solidFill>
                  <a:srgbClr val="10191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550" b="1">
                <a:solidFill>
                  <a:srgbClr val="10191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191D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85C19F-A8EB-4815-9F25-F3DAF22A0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838450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0191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0191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91D"/>
                </a:solidFill>
                <a:latin typeface="Arial"/>
                <a:ea typeface="Arial"/>
                <a:cs typeface="Arial"/>
              </a:rPr>
              <a:t>Update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71C0BF-5FF7-4F89-A18E-29AC700E4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352800"/>
            <a:ext cx="22288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6070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0707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7076"/>
                </a:solidFill>
                <a:latin typeface="Arial"/>
                <a:ea typeface="Arial"/>
                <a:cs typeface="Arial"/>
              </a:rPr>
              <a:t>Saturating fixed-point features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DEF685-E2FC-4D6B-BCAD-C196E43A8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1336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4E2"/>
          </a:solidFill>
          <a:ln xmlns:a="http://schemas.openxmlformats.org/drawingml/2006/main" w="0">
            <a:solidFill>
              <a:srgbClr val="DDE4E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36A4CE-3183-4C40-9CAF-8703EEB46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1450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BFA6"/>
          </a:solidFill>
          <a:ln xmlns:a="http://schemas.openxmlformats.org/drawingml/2006/main" w="0">
            <a:solidFill>
              <a:srgbClr val="00BFA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B5D5FB-664C-4392-BFE1-5934E6551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847850"/>
            <a:ext cx="495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2550" b="1">
                <a:solidFill>
                  <a:srgbClr val="10191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550" b="1">
                <a:solidFill>
                  <a:srgbClr val="10191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191D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0B8F95-6121-4CD4-B5D6-F07E7D5D3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838450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0191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0191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91D"/>
                </a:solidFill>
                <a:latin typeface="Arial"/>
                <a:ea typeface="Arial"/>
                <a:cs typeface="Arial"/>
              </a:rPr>
              <a:t>Classify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C9115E-F371-4E7B-974C-EDC97FA15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52800"/>
            <a:ext cx="22288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6070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0707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7076"/>
                </a:solidFill>
                <a:latin typeface="Arial"/>
                <a:ea typeface="Arial"/>
                <a:cs typeface="Arial"/>
              </a:rPr>
              <a:t>Compiled decision-tree ranges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EF58CA9-6553-4EBB-917C-8CF062BD1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1336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4E2"/>
          </a:solidFill>
          <a:ln xmlns:a="http://schemas.openxmlformats.org/drawingml/2006/main" w="0">
            <a:solidFill>
              <a:srgbClr val="DDE4E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80A2900-62AE-43F6-8406-22D265F3A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71450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6455"/>
          </a:solidFill>
          <a:ln xmlns:a="http://schemas.openxmlformats.org/drawingml/2006/main" w="0">
            <a:solidFill>
              <a:srgbClr val="F0645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407964E-8F9C-4C70-B6D0-14CC19773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847850"/>
            <a:ext cx="495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2550" b="1">
                <a:solidFill>
                  <a:srgbClr val="10191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550" b="1">
                <a:solidFill>
                  <a:srgbClr val="10191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191D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6CA22BC-D36A-42AE-ACFC-4CFD0EB4F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38450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0191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0191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91D"/>
                </a:solidFill>
                <a:latin typeface="Arial"/>
                <a:ea typeface="Arial"/>
                <a:cs typeface="Arial"/>
              </a:rPr>
              <a:t>Treat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CB7F354-96AF-4003-80BA-E469EF120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352800"/>
            <a:ext cx="22288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6070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0707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7076"/>
                </a:solidFill>
                <a:latin typeface="Arial"/>
                <a:ea typeface="Arial"/>
                <a:cs typeface="Arial"/>
              </a:rPr>
              <a:t>Queue, marking, ECN, and meter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396974E-A3AA-4E42-B014-D1964AC75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76800"/>
            <a:ext cx="10763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0191D"/>
          </a:solidFill>
          <a:ln xmlns:a="http://schemas.openxmlformats.org/drawingml/2006/main" w="0">
            <a:solidFill>
              <a:srgbClr val="10191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4EA204B-F201-40FD-B5DC-EB1825A0B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048250"/>
            <a:ext cx="1238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00BFA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00BFA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BFA6"/>
                </a:solidFill>
                <a:latin typeface="Arial"/>
                <a:ea typeface="Arial"/>
                <a:cs typeface="Arial"/>
              </a:rPr>
              <a:t>Invariant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F9788A9-3693-4DFE-9356-00A7A1217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010150"/>
            <a:ext cx="8782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>
            <a:defPPr algn="l">
              <a:defRPr sz="1650" b="1">
                <a:solidFill>
                  <a:srgbClr val="F5F2E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F5F2E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5F2EA"/>
                </a:solidFill>
                <a:latin typeface="Arial"/>
                <a:ea typeface="Arial"/>
                <a:cs typeface="Arial"/>
              </a:rPr>
              <a:t>Flow uncertainty degrades to UNKNOWN and best effort. It never becomes an access-control verdict.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3B1D81E-62F1-418E-82A3-6F4510CE7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10896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825" b="0">
                <a:solidFill>
                  <a:srgbClr val="6070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25" b="0">
                <a:solidFill>
                  <a:srgbClr val="60707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07076"/>
                </a:solidFill>
                <a:latin typeface="Arial"/>
                <a:ea typeface="Arial"/>
                <a:cs typeface="Arial"/>
              </a:rPr>
              <a:t>Arithmetic and state rules follow design.md section 7</a:t>
            </a:r>
          </a:p>
        </p:txBody>
      </p:sp>
    </p:spTree>
    <p:extLst>
      <p:ext uri="{BB962C8B-B14F-4D97-AF65-F5344CB8AC3E}">
        <p14:creationId xmlns:p14="http://schemas.microsoft.com/office/powerpoint/2010/main" val="119079054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C9D96C-97EB-4ED3-A98F-2B54DA255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9810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2400" b="1">
                <a:solidFill>
                  <a:srgbClr val="10191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10191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0191D"/>
                </a:solidFill>
                <a:latin typeface="Arial"/>
                <a:ea typeface="Arial"/>
                <a:cs typeface="Arial"/>
              </a:rPr>
              <a:t>Experiment matrix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0C93BE-1B67-4ACF-8EF2-1FB0B0F62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400050"/>
            <a:ext cx="781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r">
              <a:defRPr sz="1350" b="1">
                <a:solidFill>
                  <a:srgbClr val="6070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350" b="1">
                <a:solidFill>
                  <a:srgbClr val="60707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07076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26EDDD-5869-449D-97D3-E78B95618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9535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91D"/>
          </a:solidFill>
          <a:ln xmlns:a="http://schemas.openxmlformats.org/drawingml/2006/main" w="0">
            <a:solidFill>
              <a:srgbClr val="10191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D60080-3189-4051-BAB5-AAF106B6B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19200"/>
            <a:ext cx="4095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3000" b="1">
                <a:solidFill>
                  <a:srgbClr val="007F7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007F7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07F71"/>
                </a:solidFill>
                <a:latin typeface="Arial"/>
                <a:ea typeface="Arial"/>
                <a:cs typeface="Arial"/>
              </a:rPr>
              <a:t>375 immutable cells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6B9BF8-FA6B-4E06-AD44-6528D6ABD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24050"/>
            <a:ext cx="4667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6070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60707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07076"/>
                </a:solidFill>
                <a:latin typeface="Arial"/>
                <a:ea typeface="Arial"/>
                <a:cs typeface="Arial"/>
              </a:rPr>
              <a:t>Five systems × five agent shares × three burst presets × five seeds</a:t>
            </a:r>
          </a:p>
        </p:txBody>
      </p:sp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173C5B95-BD26-470E-B3FA-CD8A1D4CEBE1}"/>
              </a:ext>
            </a:extLst>
          </p:cNvPr>
          <p:cNvGraphicFramePr/>
          <p:nvPr/>
        </p:nvGraphicFramePr>
        <p:xfrm>
          <a:off xmlns:a="http://schemas.openxmlformats.org/drawingml/2006/main" x="5905500" y="1352550"/>
          <a:ext xmlns:a="http://schemas.openxmlformats.org/drawingml/2006/main" cx="5334000" cy="33528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4da19d5d7824754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B1E6B3-B537-4054-ABF1-E8CC639B0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8140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6070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60707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07076"/>
                </a:solidFill>
                <a:latin typeface="Arial"/>
                <a:ea typeface="Arial"/>
                <a:cs typeface="Arial"/>
              </a:rPr>
              <a:t>Agent share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B2D8D3-FF0C-4137-8DA2-DEBB8158B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62400"/>
            <a:ext cx="1619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0191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0191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191D"/>
                </a:solidFill>
                <a:latin typeface="Arial"/>
                <a:ea typeface="Arial"/>
                <a:cs typeface="Arial"/>
              </a:rPr>
              <a:t>10, 30, 50, 70, 90%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C5BE48-F4EF-49AD-8997-82BFA0BF6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58140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6070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60707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07076"/>
                </a:solidFill>
                <a:latin typeface="Arial"/>
                <a:ea typeface="Arial"/>
                <a:cs typeface="Arial"/>
              </a:rPr>
              <a:t>Burst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511FA3-47BA-48A9-BD35-3E5428FCB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962400"/>
            <a:ext cx="1619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0191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0191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191D"/>
                </a:solidFill>
                <a:latin typeface="Arial"/>
                <a:ea typeface="Arial"/>
                <a:cs typeface="Arial"/>
              </a:rPr>
              <a:t>low, med, high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2A3D63-63D6-4925-B0F3-452147186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58140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6070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60707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07076"/>
                </a:solidFill>
                <a:latin typeface="Arial"/>
                <a:ea typeface="Arial"/>
                <a:cs typeface="Arial"/>
              </a:rPr>
              <a:t>Seeds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4893C5-34C2-4B0A-AD6B-76DBFD100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962400"/>
            <a:ext cx="1619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0191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0191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191D"/>
                </a:solidFill>
                <a:latin typeface="Arial"/>
                <a:ea typeface="Arial"/>
                <a:cs typeface="Arial"/>
              </a:rPr>
              <a:t>1, 2, 3, 4, 5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152A55-868E-4A12-B710-779F9C83F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00650"/>
            <a:ext cx="105346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0191D"/>
          </a:solidFill>
          <a:ln xmlns:a="http://schemas.openxmlformats.org/drawingml/2006/main" w="0">
            <a:solidFill>
              <a:srgbClr val="10191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5014E7-8CFE-4BDB-82C3-81AEAD72A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334000"/>
            <a:ext cx="219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E6B8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E6B84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E6B84A"/>
                </a:solidFill>
                <a:latin typeface="Arial"/>
                <a:ea typeface="Arial"/>
                <a:cs typeface="Arial"/>
              </a:rPr>
              <a:t>Predeclared anchors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7CBCAF-A923-46CF-BA2D-02D7F7986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5314950"/>
            <a:ext cx="7715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F5F2E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F5F2E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5F2EA"/>
                </a:solidFill>
                <a:latin typeface="Arial"/>
                <a:ea typeface="Arial"/>
                <a:cs typeface="Arial"/>
              </a:rPr>
              <a:t>at least 30% lower human p99  |  under 5% added per-packet latency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278DB9-B900-4BD0-BD68-ED26B435F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10896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825" b="0">
                <a:solidFill>
                  <a:srgbClr val="6070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25" b="0">
                <a:solidFill>
                  <a:srgbClr val="60707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07076"/>
                </a:solidFill>
                <a:latin typeface="Arial"/>
                <a:ea typeface="Arial"/>
                <a:cs typeface="Arial"/>
              </a:rPr>
              <a:t>This chart shows configured run counts, not experimental outcomes.</a:t>
            </a:r>
          </a:p>
        </p:txBody>
      </p:sp>
    </p:spTree>
    <p:extLst>
      <p:ext uri="{BB962C8B-B14F-4D97-AF65-F5344CB8AC3E}">
        <p14:creationId xmlns:p14="http://schemas.microsoft.com/office/powerpoint/2010/main" val="194891877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019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23BE86C-8C93-450A-BC94-2F3B177C7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9810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2400" b="1">
                <a:solidFill>
                  <a:srgbClr val="F5F2E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F5F2E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5F2EA"/>
                </a:solidFill>
                <a:latin typeface="Arial"/>
                <a:ea typeface="Arial"/>
                <a:cs typeface="Arial"/>
              </a:rPr>
              <a:t>Centerpiece demo scenario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B420A4-DCDB-4C9A-85E5-49C14DE41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400050"/>
            <a:ext cx="781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r">
              <a:defRPr sz="1350" b="1">
                <a:solidFill>
                  <a:srgbClr val="AFC0C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350" b="1">
                <a:solidFill>
                  <a:srgbClr val="AFC0C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AFC0C2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EDBD2F-F569-4435-AF1A-A4184D7AD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9535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FA6"/>
          </a:solidFill>
          <a:ln xmlns:a="http://schemas.openxmlformats.org/drawingml/2006/main" w="0">
            <a:solidFill>
              <a:srgbClr val="00BFA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02CDFD-A8F5-4022-BACA-43880F587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35255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F0645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F0645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06455"/>
                </a:solidFill>
                <a:latin typeface="Arial"/>
                <a:ea typeface="Arial"/>
                <a:cs typeface="Arial"/>
              </a:rPr>
              <a:t>System OFF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6CBB5D-D47E-4972-BD26-569CB481F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35255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00BFA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00BFA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BFA6"/>
                </a:solidFill>
                <a:latin typeface="Arial"/>
                <a:ea typeface="Arial"/>
                <a:cs typeface="Arial"/>
              </a:rPr>
              <a:t>System 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7A5704-B8DC-4D61-B107-E93B44908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86050"/>
            <a:ext cx="4095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0C2"/>
          </a:solidFill>
          <a:ln xmlns:a="http://schemas.openxmlformats.org/drawingml/2006/main" w="0">
            <a:solidFill>
              <a:srgbClr val="AFC0C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899CBA-D02E-41FE-9DEF-79CD6A8E8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57400"/>
            <a:ext cx="12382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0BFA6"/>
          </a:solidFill>
          <a:ln xmlns:a="http://schemas.openxmlformats.org/drawingml/2006/main" w="0">
            <a:solidFill>
              <a:srgbClr val="00BFA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F4AE58-D4EE-4F2B-A564-AD8F92469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76450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050" b="1">
                <a:solidFill>
                  <a:srgbClr val="10191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10191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0191D"/>
                </a:solidFill>
                <a:latin typeface="Arial"/>
                <a:ea typeface="Arial"/>
                <a:cs typeface="Arial"/>
              </a:rPr>
              <a:t>human flow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134D1B-E6E4-4E10-9820-A611677DB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057400"/>
            <a:ext cx="13335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06455"/>
          </a:solidFill>
          <a:ln xmlns:a="http://schemas.openxmlformats.org/drawingml/2006/main" w="0">
            <a:solidFill>
              <a:srgbClr val="F0645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7B8447-82B8-4D8B-91D2-243D743F2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07645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050" b="1">
                <a:solidFill>
                  <a:srgbClr val="10191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10191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0191D"/>
                </a:solidFill>
                <a:latin typeface="Arial"/>
                <a:ea typeface="Arial"/>
                <a:cs typeface="Arial"/>
              </a:rPr>
              <a:t>agent storm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2B0B8E-3E2D-4474-ABA4-372138BD2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3850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BFA6"/>
          </a:solidFill>
          <a:ln xmlns:a="http://schemas.openxmlformats.org/drawingml/2006/main" w="0">
            <a:solidFill>
              <a:srgbClr val="00BFA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3D0177-564E-4AA9-81F6-CD244B815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76600"/>
            <a:ext cx="571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FA6"/>
          </a:solidFill>
          <a:ln xmlns:a="http://schemas.openxmlformats.org/drawingml/2006/main" w="0">
            <a:solidFill>
              <a:srgbClr val="00BFA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51F57A-4805-4B44-8465-09A69EB7A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2194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BFA6"/>
          </a:solidFill>
          <a:ln xmlns:a="http://schemas.openxmlformats.org/drawingml/2006/main" w="0">
            <a:solidFill>
              <a:srgbClr val="00BFA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F8919F-97D2-4204-BBAC-5FD83614A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257550"/>
            <a:ext cx="571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FA6"/>
          </a:solidFill>
          <a:ln xmlns:a="http://schemas.openxmlformats.org/drawingml/2006/main" w="0">
            <a:solidFill>
              <a:srgbClr val="00BFA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BFD0FB-B767-4976-9091-45BEBB89F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24802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BFA6"/>
          </a:solidFill>
          <a:ln xmlns:a="http://schemas.openxmlformats.org/drawingml/2006/main" w="0">
            <a:solidFill>
              <a:srgbClr val="00BFA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144722-9787-43F1-A3AF-0C1781CD3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286125"/>
            <a:ext cx="571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FA6"/>
          </a:solidFill>
          <a:ln xmlns:a="http://schemas.openxmlformats.org/drawingml/2006/main" w="0">
            <a:solidFill>
              <a:srgbClr val="00BFA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419B45-4486-4876-8505-87E05C6F1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19087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BFA6"/>
          </a:solidFill>
          <a:ln xmlns:a="http://schemas.openxmlformats.org/drawingml/2006/main" w="0">
            <a:solidFill>
              <a:srgbClr val="00BFA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70CBFF-4829-46A5-AD7D-721705C60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228975"/>
            <a:ext cx="571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FA6"/>
          </a:solidFill>
          <a:ln xmlns:a="http://schemas.openxmlformats.org/drawingml/2006/main" w="0">
            <a:solidFill>
              <a:srgbClr val="00BFA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9B01F4-C8FD-4AD3-A2B0-F3E5AEBE1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55270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BFA6"/>
          </a:solidFill>
          <a:ln xmlns:a="http://schemas.openxmlformats.org/drawingml/2006/main" w="0">
            <a:solidFill>
              <a:srgbClr val="00BFA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5BAB97C-17E5-4AFC-A89C-864826FF4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590800"/>
            <a:ext cx="571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FA6"/>
          </a:solidFill>
          <a:ln xmlns:a="http://schemas.openxmlformats.org/drawingml/2006/main" w="0">
            <a:solidFill>
              <a:srgbClr val="00BFA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E755B41-764F-4DB0-9C80-C8742EC26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78130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BFA6"/>
          </a:solidFill>
          <a:ln xmlns:a="http://schemas.openxmlformats.org/drawingml/2006/main" w="0">
            <a:solidFill>
              <a:srgbClr val="00BFA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25FA1EC-4AF1-401F-9B44-DB51CA3F5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819400"/>
            <a:ext cx="571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FA6"/>
          </a:solidFill>
          <a:ln xmlns:a="http://schemas.openxmlformats.org/drawingml/2006/main" w="0">
            <a:solidFill>
              <a:srgbClr val="00BFA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2D951B4-F8B9-4F58-B225-CFC6CD17B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12420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BFA6"/>
          </a:solidFill>
          <a:ln xmlns:a="http://schemas.openxmlformats.org/drawingml/2006/main" w="0">
            <a:solidFill>
              <a:srgbClr val="00BFA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FA5ED6F-2717-4209-8FE6-47BFA4086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14800"/>
            <a:ext cx="4095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650" b="1">
                <a:solidFill>
                  <a:srgbClr val="F0645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F0645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06455"/>
                </a:solidFill>
                <a:latin typeface="Arial"/>
                <a:ea typeface="Arial"/>
                <a:cs typeface="Arial"/>
              </a:rPr>
              <a:t>human p99 rises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0755D5E-51E4-47A7-AC00-EA67769CF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686050"/>
            <a:ext cx="4095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0C2"/>
          </a:solidFill>
          <a:ln xmlns:a="http://schemas.openxmlformats.org/drawingml/2006/main" w="0">
            <a:solidFill>
              <a:srgbClr val="AFC0C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2CC4E7C-9D60-4CEF-AD1E-6DEE21423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57400"/>
            <a:ext cx="12382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0BFA6"/>
          </a:solidFill>
          <a:ln xmlns:a="http://schemas.openxmlformats.org/drawingml/2006/main" w="0">
            <a:solidFill>
              <a:srgbClr val="00BFA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47251E7-C9C8-43B6-9E51-B2BA3D9CA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076450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050" b="1">
                <a:solidFill>
                  <a:srgbClr val="10191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10191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0191D"/>
                </a:solidFill>
                <a:latin typeface="Arial"/>
                <a:ea typeface="Arial"/>
                <a:cs typeface="Arial"/>
              </a:rPr>
              <a:t>human flow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974A4B3-5EE2-4EC1-B9BE-169091A7C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57400"/>
            <a:ext cx="13335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06455"/>
          </a:solidFill>
          <a:ln xmlns:a="http://schemas.openxmlformats.org/drawingml/2006/main" w="0">
            <a:solidFill>
              <a:srgbClr val="F0645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40FC613-774F-45B1-82DC-30B727977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07645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050" b="1">
                <a:solidFill>
                  <a:srgbClr val="10191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10191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0191D"/>
                </a:solidFill>
                <a:latin typeface="Arial"/>
                <a:ea typeface="Arial"/>
                <a:cs typeface="Arial"/>
              </a:rPr>
              <a:t>agent storm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6D85EAB-CE75-474F-B4E0-26DC3B5D8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23850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BFA6"/>
          </a:solidFill>
          <a:ln xmlns:a="http://schemas.openxmlformats.org/drawingml/2006/main" w="0">
            <a:solidFill>
              <a:srgbClr val="00BFA6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24F6E12-A462-45A0-8D4C-56D0A96ED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276600"/>
            <a:ext cx="571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FA6"/>
          </a:solidFill>
          <a:ln xmlns:a="http://schemas.openxmlformats.org/drawingml/2006/main" w="0">
            <a:solidFill>
              <a:srgbClr val="00BFA6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ECF7A99-6BFA-4552-A679-F6BC7CB54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20040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BFA6"/>
          </a:solidFill>
          <a:ln xmlns:a="http://schemas.openxmlformats.org/drawingml/2006/main" w="0">
            <a:solidFill>
              <a:srgbClr val="00BFA6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CF6BA46-A642-40C6-869D-33392B741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238500"/>
            <a:ext cx="571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FA6"/>
          </a:solidFill>
          <a:ln xmlns:a="http://schemas.openxmlformats.org/drawingml/2006/main" w="0">
            <a:solidFill>
              <a:srgbClr val="00BFA6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CFB9920-5612-43B7-AE12-01F586640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2575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BFA6"/>
          </a:solidFill>
          <a:ln xmlns:a="http://schemas.openxmlformats.org/drawingml/2006/main" w="0">
            <a:solidFill>
              <a:srgbClr val="00BFA6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1F8FF3E-6611-4C7D-BE81-DDB8A3AC0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295650"/>
            <a:ext cx="571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FA6"/>
          </a:solidFill>
          <a:ln xmlns:a="http://schemas.openxmlformats.org/drawingml/2006/main" w="0">
            <a:solidFill>
              <a:srgbClr val="00BFA6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2E60D3C-0F1D-44ED-8C0F-D1BFB5FF1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2194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BFA6"/>
          </a:solidFill>
          <a:ln xmlns:a="http://schemas.openxmlformats.org/drawingml/2006/main" w="0">
            <a:solidFill>
              <a:srgbClr val="00BFA6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D3E3B16-2856-4AD5-BBBC-11984EB59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257550"/>
            <a:ext cx="571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FA6"/>
          </a:solidFill>
          <a:ln xmlns:a="http://schemas.openxmlformats.org/drawingml/2006/main" w="0">
            <a:solidFill>
              <a:srgbClr val="00BFA6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43C683B-6197-44AF-B862-FD568C33F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26707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BFA6"/>
          </a:solidFill>
          <a:ln xmlns:a="http://schemas.openxmlformats.org/drawingml/2006/main" w="0">
            <a:solidFill>
              <a:srgbClr val="00BFA6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2A99337-CED7-4E56-BD1D-C6AEA45AB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305175"/>
            <a:ext cx="571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FA6"/>
          </a:solidFill>
          <a:ln xmlns:a="http://schemas.openxmlformats.org/drawingml/2006/main" w="0">
            <a:solidFill>
              <a:srgbClr val="00BFA6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5AABEB3-0568-48D7-9F3E-13C72DB38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23850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BFA6"/>
          </a:solidFill>
          <a:ln xmlns:a="http://schemas.openxmlformats.org/drawingml/2006/main" w="0">
            <a:solidFill>
              <a:srgbClr val="00BFA6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4C8C1BD-D186-4A1B-8287-80E685B51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276600"/>
            <a:ext cx="571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FA6"/>
          </a:solidFill>
          <a:ln xmlns:a="http://schemas.openxmlformats.org/drawingml/2006/main" w="0">
            <a:solidFill>
              <a:srgbClr val="00BFA6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F055F73-32C1-407E-938F-C8CB8EB24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2575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BFA6"/>
          </a:solidFill>
          <a:ln xmlns:a="http://schemas.openxmlformats.org/drawingml/2006/main" w="0">
            <a:solidFill>
              <a:srgbClr val="00BFA6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401F3A9-2B77-46B7-BF16-D3F4B95BD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114800"/>
            <a:ext cx="4095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650" b="1">
                <a:solidFill>
                  <a:srgbClr val="00BFA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00BFA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BFA6"/>
                </a:solidFill>
                <a:latin typeface="Arial"/>
                <a:ea typeface="Arial"/>
                <a:cs typeface="Arial"/>
              </a:rPr>
              <a:t>human p99 stays flat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4E8D081-7949-44A1-9CAD-14F1FE8C6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72050"/>
            <a:ext cx="99822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26373B"/>
          </a:solidFill>
          <a:ln xmlns:a="http://schemas.openxmlformats.org/drawingml/2006/main" w="19050">
            <a:solidFill>
              <a:srgbClr val="E6B84A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AF794E8-09BD-4ABD-8EAC-519079B7C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143500"/>
            <a:ext cx="9410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726"/>
          </a:bodyPr>
          <a:lstStyle xmlns:a="http://schemas.openxmlformats.org/drawingml/2006/main">
            <a:defPPr algn="ctr">
              <a:defRPr sz="1575" b="1">
                <a:solidFill>
                  <a:srgbClr val="F5F2E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F5F2E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5F2EA"/>
                </a:solidFill>
                <a:latin typeface="Arial"/>
                <a:ea typeface="Arial"/>
                <a:cs typeface="Arial"/>
              </a:rPr>
              <a:t>The dashboard must agree with offline matched two-tap metrics before the demo counts as evidence.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B36120E-B928-4B72-9B33-6F47A0A84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10896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825" b="0">
                <a:solidFill>
                  <a:srgbClr val="AFC0C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25" b="0">
                <a:solidFill>
                  <a:srgbClr val="AFC0C2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AFC0C2"/>
                </a:solidFill>
                <a:latin typeface="Arial"/>
                <a:ea typeface="Arial"/>
                <a:cs typeface="Arial"/>
              </a:rPr>
              <a:t>Conceptual timeline. Replace only with audited live data after Linux execution.</a:t>
            </a:r>
          </a:p>
        </p:txBody>
      </p:sp>
    </p:spTree>
    <p:extLst>
      <p:ext uri="{BB962C8B-B14F-4D97-AF65-F5344CB8AC3E}">
        <p14:creationId xmlns:p14="http://schemas.microsoft.com/office/powerpoint/2010/main" val="22889484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09F3B46-BE30-4A91-96B8-50CA16C57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9810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2400" b="1">
                <a:solidFill>
                  <a:srgbClr val="10191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10191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0191D"/>
                </a:solidFill>
                <a:latin typeface="Arial"/>
                <a:ea typeface="Arial"/>
                <a:cs typeface="Arial"/>
              </a:rPr>
              <a:t>Evidence chain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559C47-3C85-4715-B1F9-47A600D66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400050"/>
            <a:ext cx="781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r">
              <a:defRPr sz="1350" b="1">
                <a:solidFill>
                  <a:srgbClr val="6070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350" b="1">
                <a:solidFill>
                  <a:srgbClr val="60707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07076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686D50-028A-4EF1-90D7-1DA3AC20E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9535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91D"/>
          </a:solidFill>
          <a:ln xmlns:a="http://schemas.openxmlformats.org/drawingml/2006/main" w="0">
            <a:solidFill>
              <a:srgbClr val="10191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B1B0F8-70A3-4126-995A-BC21E41D5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47850"/>
            <a:ext cx="1885950" cy="2000250"/>
          </a:xfrm>
          <a:prstGeom xmlns:a="http://schemas.openxmlformats.org/drawingml/2006/main" prst="roundRect">
            <a:avLst>
              <a:gd name="adj" fmla="val 40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00BFA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88AB58-8C58-4722-B6AB-C28201CFC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76450"/>
            <a:ext cx="1543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200" b="1">
                <a:solidFill>
                  <a:srgbClr val="00BFA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00BFA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BFA6"/>
                </a:solidFill>
                <a:latin typeface="Arial"/>
                <a:ea typeface="Arial"/>
                <a:cs typeface="Arial"/>
              </a:rPr>
              <a:t>CONFIG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35F145-BF85-420E-804A-5F9E36655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9850"/>
            <a:ext cx="15430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275" b="0">
                <a:solidFill>
                  <a:srgbClr val="10191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75" b="0">
                <a:solidFill>
                  <a:srgbClr val="10191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0191D"/>
                </a:solidFill>
                <a:latin typeface="Arial"/>
                <a:ea typeface="Arial"/>
                <a:cs typeface="Arial"/>
              </a:rPr>
              <a:t>SHA-256 identity</a:t>
            </a:r>
          </a:p>
          <a:p xmlns:a="http://schemas.openxmlformats.org/drawingml/2006/main">
            <a:pPr algn="ctr">
              <a:defRPr sz="1275" b="0">
                <a:solidFill>
                  <a:srgbClr val="10191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0191D"/>
                </a:solidFill>
                <a:latin typeface="Arial"/>
                <a:ea typeface="Arial"/>
                <a:cs typeface="Arial"/>
              </a:rPr>
              <a:t>and explicit seed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672019-9BF3-4DE4-B837-226C2C65F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571750"/>
            <a:ext cx="323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4260"/>
          </a:bodyPr>
          <a:lstStyle xmlns:a="http://schemas.openxmlformats.org/drawingml/2006/main">
            <a:defPPr algn="ctr">
              <a:defRPr sz="2550" b="1">
                <a:solidFill>
                  <a:srgbClr val="6070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550" b="1">
                <a:solidFill>
                  <a:srgbClr val="607076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607076"/>
                </a:solidFill>
                <a:latin typeface="Arial"/>
                <a:ea typeface="Arial"/>
                <a:cs typeface="Arial"/>
              </a:rPr>
              <a:t>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490F58-3EDF-476E-8564-AE10338D9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847850"/>
            <a:ext cx="1885950" cy="2000250"/>
          </a:xfrm>
          <a:prstGeom xmlns:a="http://schemas.openxmlformats.org/drawingml/2006/main" prst="roundRect">
            <a:avLst>
              <a:gd name="adj" fmla="val 40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00BFA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81FF5F-010B-4383-B99B-9A7C0E1EC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076450"/>
            <a:ext cx="1543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200" b="1">
                <a:solidFill>
                  <a:srgbClr val="00BFA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00BFA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BFA6"/>
                </a:solidFill>
                <a:latin typeface="Arial"/>
                <a:ea typeface="Arial"/>
                <a:cs typeface="Arial"/>
              </a:rPr>
              <a:t>RUN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F93B1B-2662-46B7-BB88-D0B11ABA8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609850"/>
            <a:ext cx="15430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275" b="0">
                <a:solidFill>
                  <a:srgbClr val="10191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75" b="0">
                <a:solidFill>
                  <a:srgbClr val="10191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0191D"/>
                </a:solidFill>
                <a:latin typeface="Arial"/>
                <a:ea typeface="Arial"/>
                <a:cs typeface="Arial"/>
              </a:rPr>
              <a:t>exclusive host lock</a:t>
            </a:r>
          </a:p>
          <a:p xmlns:a="http://schemas.openxmlformats.org/drawingml/2006/main">
            <a:pPr algn="ctr">
              <a:defRPr sz="1275" b="0">
                <a:solidFill>
                  <a:srgbClr val="10191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0191D"/>
                </a:solidFill>
                <a:latin typeface="Arial"/>
                <a:ea typeface="Arial"/>
                <a:cs typeface="Arial"/>
              </a:rPr>
              <a:t>and append-only path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BD040C-CE9F-4CF5-A9F8-A877A6C09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571750"/>
            <a:ext cx="323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4260"/>
          </a:bodyPr>
          <a:lstStyle xmlns:a="http://schemas.openxmlformats.org/drawingml/2006/main">
            <a:defPPr algn="ctr">
              <a:defRPr sz="2550" b="1">
                <a:solidFill>
                  <a:srgbClr val="6070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550" b="1">
                <a:solidFill>
                  <a:srgbClr val="607076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607076"/>
                </a:solidFill>
                <a:latin typeface="Arial"/>
                <a:ea typeface="Arial"/>
                <a:cs typeface="Arial"/>
              </a:rPr>
              <a:t>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3A4762-5489-48DE-85BD-0FBE490F9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1847850"/>
            <a:ext cx="1885950" cy="2000250"/>
          </a:xfrm>
          <a:prstGeom xmlns:a="http://schemas.openxmlformats.org/drawingml/2006/main" prst="roundRect">
            <a:avLst>
              <a:gd name="adj" fmla="val 40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00BFA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E1D5A8-38A1-44E8-860F-445BBFC40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076450"/>
            <a:ext cx="1543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200" b="1">
                <a:solidFill>
                  <a:srgbClr val="00BFA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00BFA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BFA6"/>
                </a:solidFill>
                <a:latin typeface="Arial"/>
                <a:ea typeface="Arial"/>
                <a:cs typeface="Arial"/>
              </a:rPr>
              <a:t>ARTIFACTS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F574B3-2E2E-4436-BD72-3EDAACAAA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609850"/>
            <a:ext cx="15430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275" b="0">
                <a:solidFill>
                  <a:srgbClr val="10191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75" b="0">
                <a:solidFill>
                  <a:srgbClr val="10191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0191D"/>
                </a:solidFill>
                <a:latin typeface="Arial"/>
                <a:ea typeface="Arial"/>
                <a:cs typeface="Arial"/>
              </a:rPr>
              <a:t>two taps, labels,</a:t>
            </a:r>
          </a:p>
          <a:p xmlns:a="http://schemas.openxmlformats.org/drawingml/2006/main">
            <a:pPr algn="ctr">
              <a:defRPr sz="1275" b="0">
                <a:solidFill>
                  <a:srgbClr val="10191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0191D"/>
                </a:solidFill>
                <a:latin typeface="Arial"/>
                <a:ea typeface="Arial"/>
                <a:cs typeface="Arial"/>
              </a:rPr>
              <a:t>target timings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09DAA1-D280-4DB4-A086-36766248A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571750"/>
            <a:ext cx="323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4260"/>
          </a:bodyPr>
          <a:lstStyle xmlns:a="http://schemas.openxmlformats.org/drawingml/2006/main">
            <a:defPPr algn="ctr">
              <a:defRPr sz="2550" b="1">
                <a:solidFill>
                  <a:srgbClr val="6070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550" b="1">
                <a:solidFill>
                  <a:srgbClr val="607076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607076"/>
                </a:solidFill>
                <a:latin typeface="Arial"/>
                <a:ea typeface="Arial"/>
                <a:cs typeface="Arial"/>
              </a:rPr>
              <a:t>&gt;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0FD7D8-F05B-4C6B-BC1C-9C40B6F81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847850"/>
            <a:ext cx="1885950" cy="2000250"/>
          </a:xfrm>
          <a:prstGeom xmlns:a="http://schemas.openxmlformats.org/drawingml/2006/main" prst="roundRect">
            <a:avLst>
              <a:gd name="adj" fmla="val 40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00BFA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A59BCB-C7B7-47C2-9894-6CAC7B85B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076450"/>
            <a:ext cx="1543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200" b="1">
                <a:solidFill>
                  <a:srgbClr val="00BFA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00BFA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BFA6"/>
                </a:solidFill>
                <a:latin typeface="Arial"/>
                <a:ea typeface="Arial"/>
                <a:cs typeface="Arial"/>
              </a:rPr>
              <a:t>AUDIT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8A074F-03A3-47B5-8C9E-821D2470E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609850"/>
            <a:ext cx="15430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275" b="0">
                <a:solidFill>
                  <a:srgbClr val="10191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75" b="0">
                <a:solidFill>
                  <a:srgbClr val="10191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0191D"/>
                </a:solidFill>
                <a:latin typeface="Arial"/>
                <a:ea typeface="Arial"/>
                <a:cs typeface="Arial"/>
              </a:rPr>
              <a:t>manifest hashes</a:t>
            </a:r>
          </a:p>
          <a:p xmlns:a="http://schemas.openxmlformats.org/drawingml/2006/main">
            <a:pPr algn="ctr">
              <a:defRPr sz="1275" b="0">
                <a:solidFill>
                  <a:srgbClr val="10191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0191D"/>
                </a:solidFill>
                <a:latin typeface="Arial"/>
                <a:ea typeface="Arial"/>
                <a:cs typeface="Arial"/>
              </a:rPr>
              <a:t>and coordinate checks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3350203-20BB-4BB3-BACF-CF9117ABC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571750"/>
            <a:ext cx="323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4260"/>
          </a:bodyPr>
          <a:lstStyle xmlns:a="http://schemas.openxmlformats.org/drawingml/2006/main">
            <a:defPPr algn="ctr">
              <a:defRPr sz="2550" b="1">
                <a:solidFill>
                  <a:srgbClr val="6070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550" b="1">
                <a:solidFill>
                  <a:srgbClr val="607076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607076"/>
                </a:solidFill>
                <a:latin typeface="Arial"/>
                <a:ea typeface="Arial"/>
                <a:cs typeface="Arial"/>
              </a:rPr>
              <a:t>&gt;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E38B69-AE5F-4D8A-8B84-26554C2F8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1847850"/>
            <a:ext cx="1885950" cy="2000250"/>
          </a:xfrm>
          <a:prstGeom xmlns:a="http://schemas.openxmlformats.org/drawingml/2006/main" prst="roundRect">
            <a:avLst>
              <a:gd name="adj" fmla="val 40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F0645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73AAD70-1339-4BA8-ADDD-6618C7AFA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076450"/>
            <a:ext cx="1543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200" b="1">
                <a:solidFill>
                  <a:srgbClr val="F0645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F0645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06455"/>
                </a:solidFill>
                <a:latin typeface="Arial"/>
                <a:ea typeface="Arial"/>
                <a:cs typeface="Arial"/>
              </a:rPr>
              <a:t>CLAIM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57F1CBB-BCCA-4749-903D-525BD4A01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609850"/>
            <a:ext cx="15430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275" b="0">
                <a:solidFill>
                  <a:srgbClr val="10191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75" b="0">
                <a:solidFill>
                  <a:srgbClr val="10191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0191D"/>
                </a:solidFill>
                <a:latin typeface="Arial"/>
                <a:ea typeface="Arial"/>
                <a:cs typeface="Arial"/>
              </a:rPr>
              <a:t>confidence interval</a:t>
            </a:r>
          </a:p>
          <a:p xmlns:a="http://schemas.openxmlformats.org/drawingml/2006/main">
            <a:pPr algn="ctr">
              <a:defRPr sz="1275" b="0">
                <a:solidFill>
                  <a:srgbClr val="10191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0191D"/>
                </a:solidFill>
                <a:latin typeface="Arial"/>
                <a:ea typeface="Arial"/>
                <a:cs typeface="Arial"/>
              </a:rPr>
              <a:t>and anchor status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8680C5C-0BD6-4EB0-8E96-78E5FEF68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552950"/>
            <a:ext cx="933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2100" b="1">
                <a:solidFill>
                  <a:srgbClr val="007F7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007F7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7F71"/>
                </a:solidFill>
                <a:latin typeface="Arial"/>
                <a:ea typeface="Arial"/>
                <a:cs typeface="Arial"/>
              </a:rPr>
              <a:t>A failed run stays visible. A missing digest blocks aggregation.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A540B1F-F70F-4B3F-84CC-BF7F30679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5314950"/>
            <a:ext cx="8305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0">
                <a:solidFill>
                  <a:srgbClr val="6070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60707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7076"/>
                </a:solidFill>
                <a:latin typeface="Arial"/>
                <a:ea typeface="Arial"/>
                <a:cs typeface="Arial"/>
              </a:rPr>
              <a:t>This boundary prevents dry runs, fixtures, and edited telemetry from becoming paper numbers.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BE069DE-1EA9-43E4-8935-D0036D1AE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10896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825" b="0">
                <a:solidFill>
                  <a:srgbClr val="6070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25" b="0">
                <a:solidFill>
                  <a:srgbClr val="60707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07076"/>
                </a:solidFill>
                <a:latin typeface="Arial"/>
                <a:ea typeface="Arial"/>
                <a:cs typeface="Arial"/>
              </a:rPr>
              <a:t>Evidence rules: design.md sections 7.18 through 7.20</a:t>
            </a:r>
          </a:p>
        </p:txBody>
      </p:sp>
    </p:spTree>
    <p:extLst>
      <p:ext uri="{BB962C8B-B14F-4D97-AF65-F5344CB8AC3E}">
        <p14:creationId xmlns:p14="http://schemas.microsoft.com/office/powerpoint/2010/main" val="157329210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539B33E-1413-496A-B5BB-847294A71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9810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2400" b="1">
                <a:solidFill>
                  <a:srgbClr val="10191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10191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0191D"/>
                </a:solidFill>
                <a:latin typeface="Arial"/>
                <a:ea typeface="Arial"/>
                <a:cs typeface="Arial"/>
              </a:rPr>
              <a:t>Current implementation status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825BEA-BCA5-49A0-B43C-F99CE8010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400050"/>
            <a:ext cx="781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r">
              <a:defRPr sz="1350" b="1">
                <a:solidFill>
                  <a:srgbClr val="6070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350" b="1">
                <a:solidFill>
                  <a:srgbClr val="60707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07076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E26369-E434-4C66-8EF7-C34DDD1EB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9535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91D"/>
          </a:solidFill>
          <a:ln xmlns:a="http://schemas.openxmlformats.org/drawingml/2006/main" w="0">
            <a:solidFill>
              <a:srgbClr val="10191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4ABA8C-6642-4EEC-BAF8-62628CEEF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14450"/>
            <a:ext cx="457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007F7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007F7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7F71"/>
                </a:solidFill>
                <a:latin typeface="Arial"/>
                <a:ea typeface="Arial"/>
                <a:cs typeface="Arial"/>
              </a:rPr>
              <a:t>Repository ready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0FC14E-03A7-4A11-B1F9-C59F7F0DD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314450"/>
            <a:ext cx="457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F0645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F0645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06455"/>
                </a:solidFill>
                <a:latin typeface="Arial"/>
                <a:ea typeface="Arial"/>
                <a:cs typeface="Arial"/>
              </a:rPr>
              <a:t>Runtime evidence pending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7A2122-C356-4753-9288-1448E95E7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145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BFA6"/>
          </a:solidFill>
          <a:ln xmlns:a="http://schemas.openxmlformats.org/drawingml/2006/main" w="0">
            <a:solidFill>
              <a:srgbClr val="00BFA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E9D157-9773-4338-ADCA-BB999D969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076450"/>
            <a:ext cx="447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0191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0191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191D"/>
                </a:solidFill>
                <a:latin typeface="Arial"/>
                <a:ea typeface="Arial"/>
                <a:cs typeface="Arial"/>
              </a:rPr>
              <a:t>Topology and persistent storm lifecycle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096893-096E-4BA9-8ACE-8EDE1347E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956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BFA6"/>
          </a:solidFill>
          <a:ln xmlns:a="http://schemas.openxmlformats.org/drawingml/2006/main" w="0">
            <a:solidFill>
              <a:srgbClr val="00BFA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366743-D041-42AA-88D3-58135785B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857500"/>
            <a:ext cx="447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0191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0191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191D"/>
                </a:solidFill>
                <a:latin typeface="Arial"/>
                <a:ea typeface="Arial"/>
                <a:cs typeface="Arial"/>
              </a:rPr>
              <a:t>Four baselines and 375-cell configs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A45327-D477-4BD2-A473-5CCFC2BB7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766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BFA6"/>
          </a:solidFill>
          <a:ln xmlns:a="http://schemas.openxmlformats.org/drawingml/2006/main" w="0">
            <a:solidFill>
              <a:srgbClr val="00BFA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767B2A-FFF1-47D9-A78E-74DEF9C88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638550"/>
            <a:ext cx="447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0191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0191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191D"/>
                </a:solidFill>
                <a:latin typeface="Arial"/>
                <a:ea typeface="Arial"/>
                <a:cs typeface="Arial"/>
              </a:rPr>
              <a:t>Metrics, dashboard, plots, and audit gates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3924CD-EF64-4A25-A9BA-A01ACBAC5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577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BFA6"/>
          </a:solidFill>
          <a:ln xmlns:a="http://schemas.openxmlformats.org/drawingml/2006/main" w="0">
            <a:solidFill>
              <a:srgbClr val="00BFA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2460A7-105B-4739-BE2F-11F5CFA1D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419600"/>
            <a:ext cx="447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0191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0191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191D"/>
                </a:solidFill>
                <a:latin typeface="Arial"/>
                <a:ea typeface="Arial"/>
                <a:cs typeface="Arial"/>
              </a:rPr>
              <a:t>MAWI provenance and replay manifest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0F9DAA-BF95-41B9-B130-C1201D84E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1145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6455"/>
          </a:solidFill>
          <a:ln xmlns:a="http://schemas.openxmlformats.org/drawingml/2006/main" w="0">
            <a:solidFill>
              <a:srgbClr val="F0645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36AE7A-B6A9-4564-8CB9-5F8D51C10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076450"/>
            <a:ext cx="447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0191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0191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191D"/>
                </a:solidFill>
                <a:latin typeface="Arial"/>
                <a:ea typeface="Arial"/>
                <a:cs typeface="Arial"/>
              </a:rPr>
              <a:t>Linux BMv2 and Mininet executions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DCE4D7-4481-4958-BBC9-D15D898A3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8956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6455"/>
          </a:solidFill>
          <a:ln xmlns:a="http://schemas.openxmlformats.org/drawingml/2006/main" w="0">
            <a:solidFill>
              <a:srgbClr val="F0645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AD5AC7-754C-43F0-918A-6A1121BE4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857500"/>
            <a:ext cx="447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0191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0191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191D"/>
                </a:solidFill>
                <a:latin typeface="Arial"/>
                <a:ea typeface="Arial"/>
                <a:cs typeface="Arial"/>
              </a:rPr>
              <a:t>Real captures from four agent frameworks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15519F-5A8A-4864-841C-454602201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6766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6455"/>
          </a:solidFill>
          <a:ln xmlns:a="http://schemas.openxmlformats.org/drawingml/2006/main" w="0">
            <a:solidFill>
              <a:srgbClr val="F0645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8175E29-BBE7-4A53-BFFA-5C44331EF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638550"/>
            <a:ext cx="447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0191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0191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191D"/>
                </a:solidFill>
                <a:latin typeface="Arial"/>
                <a:ea typeface="Arial"/>
                <a:cs typeface="Arial"/>
              </a:rPr>
              <a:t>Authorized CAIDA trace access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462084A-AEF8-4B56-9A4D-B8A1F6245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4577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6455"/>
          </a:solidFill>
          <a:ln xmlns:a="http://schemas.openxmlformats.org/drawingml/2006/main" w="0">
            <a:solidFill>
              <a:srgbClr val="F0645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2E84FFA-D4C1-405A-B5EE-A578B49FE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419600"/>
            <a:ext cx="447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0191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0191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191D"/>
                </a:solidFill>
                <a:latin typeface="Arial"/>
                <a:ea typeface="Arial"/>
                <a:cs typeface="Arial"/>
              </a:rPr>
              <a:t>Anchor results and two full rehearsals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9DC77A4-4E5A-440E-A5A4-131BB40C6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29250"/>
            <a:ext cx="102870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10191D"/>
          </a:solidFill>
          <a:ln xmlns:a="http://schemas.openxmlformats.org/drawingml/2006/main" w="0">
            <a:solidFill>
              <a:srgbClr val="10191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4E8A71E-D5E7-4670-8E27-2214ABDA2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543550"/>
            <a:ext cx="9677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F5F2E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F5F2E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2EA"/>
                </a:solidFill>
                <a:latin typeface="Arial"/>
                <a:ea typeface="Arial"/>
                <a:cs typeface="Arial"/>
              </a:rPr>
              <a:t>No experimental performance claim appears in this deck before audited results exist.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325C890-073B-45C5-817C-0ABB7E157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10896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825" b="0">
                <a:solidFill>
                  <a:srgbClr val="6070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25" b="0">
                <a:solidFill>
                  <a:srgbClr val="60707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07076"/>
                </a:solidFill>
                <a:latin typeface="Arial"/>
                <a:ea typeface="Arial"/>
                <a:cs typeface="Arial"/>
              </a:rPr>
              <a:t>Status reflects the repository as of 9 October 2026</a:t>
            </a:r>
          </a:p>
        </p:txBody>
      </p:sp>
    </p:spTree>
    <p:extLst>
      <p:ext uri="{BB962C8B-B14F-4D97-AF65-F5344CB8AC3E}">
        <p14:creationId xmlns:p14="http://schemas.microsoft.com/office/powerpoint/2010/main" val="172184100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019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3F69B9E-70A9-464A-A4F6-954F5AEAF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9810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2400" b="1">
                <a:solidFill>
                  <a:srgbClr val="F5F2E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F5F2E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5F2EA"/>
                </a:solidFill>
                <a:latin typeface="Arial"/>
                <a:ea typeface="Arial"/>
                <a:cs typeface="Arial"/>
              </a:rPr>
              <a:t>Demo readiness gate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BD0BD6-CF6F-4262-AB7D-91B372BD2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400050"/>
            <a:ext cx="781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r">
              <a:defRPr sz="1350" b="1">
                <a:solidFill>
                  <a:srgbClr val="AFC0C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350" b="1">
                <a:solidFill>
                  <a:srgbClr val="AFC0C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AFC0C2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5AA356-03F0-495C-B553-7BCC3F2C1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9535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FA6"/>
          </a:solidFill>
          <a:ln xmlns:a="http://schemas.openxmlformats.org/drawingml/2006/main" w="0">
            <a:solidFill>
              <a:srgbClr val="00BFA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8919C4-44D3-453E-8417-48192F95C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00150"/>
            <a:ext cx="7524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038"/>
          </a:bodyPr>
          <a:lstStyle xmlns:a="http://schemas.openxmlformats.org/drawingml/2006/main">
            <a:defPPr algn="l">
              <a:defRPr sz="2850" b="1">
                <a:solidFill>
                  <a:srgbClr val="F5F2E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F5F2E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5F2EA"/>
                </a:solidFill>
                <a:latin typeface="Arial"/>
                <a:ea typeface="Arial"/>
                <a:cs typeface="Arial"/>
              </a:rPr>
              <a:t>A successful rehearsal must leave evidence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DC8019-917C-4702-B527-7507E960A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9075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BFA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965EF3-DFC4-4C01-AF82-6E73B0E75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71700"/>
            <a:ext cx="7524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F5F2E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F5F2E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2EA"/>
                </a:solidFill>
                <a:latin typeface="Arial"/>
                <a:ea typeface="Arial"/>
                <a:cs typeface="Arial"/>
              </a:rPr>
              <a:t>Fresh Linux VM and recorded toolchain commits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516C05-85BC-476F-BB3C-A44D8F3D5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5750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BFA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99AD11-72CF-4BC6-A0AE-6AAE8F633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838450"/>
            <a:ext cx="7524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F5F2E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F5F2E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2EA"/>
                </a:solidFill>
                <a:latin typeface="Arial"/>
                <a:ea typeface="Arial"/>
                <a:cs typeface="Arial"/>
              </a:rPr>
              <a:t>System OFF and ON runs with identical coordinates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A113C6-84AD-4C80-A5AF-355091FC1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2425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BFA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0B7171-A1A5-4522-8B34-B6041776C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505200"/>
            <a:ext cx="7524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F5F2E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F5F2E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2EA"/>
                </a:solidFill>
                <a:latin typeface="Arial"/>
                <a:ea typeface="Arial"/>
                <a:cs typeface="Arial"/>
              </a:rPr>
              <a:t>Live dashboard cross-checked against offline metrics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9C879B-2189-4389-8F36-85B3235A0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9100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BFA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578DC3-BE47-4A47-B4F5-2F60CA003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71950"/>
            <a:ext cx="7524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F5F2E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F5F2E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2EA"/>
                </a:solidFill>
                <a:latin typeface="Arial"/>
                <a:ea typeface="Arial"/>
                <a:cs typeface="Arial"/>
              </a:rPr>
              <a:t>Archived manifests, pcaps, hashes, logs, and recording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9457A6-8C1F-4951-9865-4FC8CCB8E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5775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BFA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163F3C-2AFC-4D2F-92AE-4DD203A7C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838700"/>
            <a:ext cx="7524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F5F2E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F5F2E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2EA"/>
                </a:solidFill>
                <a:latin typeface="Arial"/>
                <a:ea typeface="Arial"/>
                <a:cs typeface="Arial"/>
              </a:rPr>
              <a:t>Clean shutdown with no orphan processes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E113E7-D34A-42E1-9A7D-72712C6BE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1809750"/>
            <a:ext cx="1771650" cy="3143250"/>
          </a:xfrm>
          <a:prstGeom xmlns:a="http://schemas.openxmlformats.org/drawingml/2006/main" prst="roundRect">
            <a:avLst>
              <a:gd name="adj" fmla="val 4301"/>
            </a:avLst>
          </a:prstGeom>
          <a:solidFill xmlns:a="http://schemas.openxmlformats.org/drawingml/2006/main">
            <a:srgbClr val="24363A"/>
          </a:solidFill>
          <a:ln xmlns:a="http://schemas.openxmlformats.org/drawingml/2006/main" w="28575">
            <a:solidFill>
              <a:srgbClr val="E6B84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FCA8A3-FEF5-442A-BFE7-191E9F282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114550"/>
            <a:ext cx="10096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5850" b="1">
                <a:solidFill>
                  <a:srgbClr val="E6B8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5850" b="1">
                <a:solidFill>
                  <a:srgbClr val="E6B84A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E6B84A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940F24-F707-4AEB-9D4F-2B2EF7481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257550"/>
            <a:ext cx="13144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575" b="1">
                <a:solidFill>
                  <a:srgbClr val="F5F2E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F5F2E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5F2EA"/>
                </a:solidFill>
                <a:latin typeface="Arial"/>
                <a:ea typeface="Arial"/>
                <a:cs typeface="Arial"/>
              </a:rPr>
              <a:t>complete</a:t>
            </a:r>
          </a:p>
          <a:p xmlns:a="http://schemas.openxmlformats.org/drawingml/2006/main">
            <a:pPr algn="ctr">
              <a:defRPr sz="1575" b="1">
                <a:solidFill>
                  <a:srgbClr val="F5F2E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5F2EA"/>
                </a:solidFill>
                <a:latin typeface="Arial"/>
                <a:ea typeface="Arial"/>
                <a:cs typeface="Arial"/>
              </a:rPr>
              <a:t>rehearsals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CA46C9F-8B18-43AC-9AC4-5F7757F48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267200"/>
            <a:ext cx="1276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200" b="0">
                <a:solidFill>
                  <a:srgbClr val="AFC0C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AFC0C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FC0C2"/>
                </a:solidFill>
                <a:latin typeface="Arial"/>
                <a:ea typeface="Arial"/>
                <a:cs typeface="Arial"/>
              </a:rPr>
              <a:t>required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6CE960-A2A9-4962-A1E7-CC5C074B5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38800"/>
            <a:ext cx="895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00BFA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00BFA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BFA6"/>
                </a:solidFill>
                <a:latin typeface="Arial"/>
                <a:ea typeface="Arial"/>
                <a:cs typeface="Arial"/>
              </a:rPr>
              <a:t>If the live path fails, show the archived rehearsal and disclose the current failure.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AAF895E-67A2-46E6-9465-8CB64037F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10896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825" b="0">
                <a:solidFill>
                  <a:srgbClr val="AFC0C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25" b="0">
                <a:solidFill>
                  <a:srgbClr val="AFC0C2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AFC0C2"/>
                </a:solidFill>
                <a:latin typeface="Arial"/>
                <a:ea typeface="Arial"/>
                <a:cs typeface="Arial"/>
              </a:rPr>
              <a:t>Runbook: docs/demo_rehearsal.md</a:t>
            </a:r>
          </a:p>
        </p:txBody>
      </p:sp>
    </p:spTree>
    <p:extLst>
      <p:ext uri="{BB962C8B-B14F-4D97-AF65-F5344CB8AC3E}">
        <p14:creationId xmlns:p14="http://schemas.microsoft.com/office/powerpoint/2010/main" val="207327424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2026-10-09T16:49:40.4580000Z</dcterms:created>
  <dcterms:modified xsi:type="dcterms:W3CDTF">2026-10-09T16:49:40.4580000Z</dcterms:modified>
</coreProperties>
</file>